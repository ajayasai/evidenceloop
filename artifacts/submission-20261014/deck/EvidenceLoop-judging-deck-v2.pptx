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747a025877341b9" /><Relationship Type="http://schemas.openxmlformats.org/officeDocument/2006/relationships/extended-properties" Target="/docProps/app.xml" Id="Rd87a414fe7cd47eb" /><Relationship Type="http://schemas.openxmlformats.org/officeDocument/2006/relationships/officeDocument" Target="/ppt/presentation.xml" Id="Re9072c178b574a64" /></Relationships>
</file>

<file path=ppt/presentation.xml><?xml version="1.0" encoding="utf-8"?>
<p:presentation xmlns:p="http://schemas.openxmlformats.org/presentationml/2006/main">
  <p:sldMasterIdLst>
    <p:sldMasterId xmlns:r="http://schemas.openxmlformats.org/officeDocument/2006/relationships" id="2147483648" r:id="Re2a10ff3cbb147b2"/>
  </p:sldMasterIdLst>
  <p:notesMasterIdLst>
    <p:notesMasterId xmlns:r="http://schemas.openxmlformats.org/officeDocument/2006/relationships" r:id="Rfd345afc581f47e7"/>
  </p:notesMasterIdLst>
  <p:sldIdLst>
    <p:sldId xmlns:r="http://schemas.openxmlformats.org/officeDocument/2006/relationships" id="256" r:id="R65558bb146274907"/>
    <p:sldId xmlns:r="http://schemas.openxmlformats.org/officeDocument/2006/relationships" id="257" r:id="R7e89dd923cf2476d"/>
    <p:sldId xmlns:r="http://schemas.openxmlformats.org/officeDocument/2006/relationships" id="258" r:id="Rbc47a30754274961"/>
    <p:sldId xmlns:r="http://schemas.openxmlformats.org/officeDocument/2006/relationships" id="259" r:id="R945d76b33ef64f2a"/>
    <p:sldId xmlns:r="http://schemas.openxmlformats.org/officeDocument/2006/relationships" id="260" r:id="R1c248990b7f8482d"/>
    <p:sldId xmlns:r="http://schemas.openxmlformats.org/officeDocument/2006/relationships" id="261" r:id="Ra944ebf8332a4a3a"/>
    <p:sldId xmlns:r="http://schemas.openxmlformats.org/officeDocument/2006/relationships" id="262" r:id="R8ac91ddd4e4c4972"/>
    <p:sldId xmlns:r="http://schemas.openxmlformats.org/officeDocument/2006/relationships" id="263" r:id="R696861dbc0ba4344"/>
    <p:sldId xmlns:r="http://schemas.openxmlformats.org/officeDocument/2006/relationships" id="264" r:id="Rddd19dd034cc4f2a"/>
    <p:sldId xmlns:r="http://schemas.openxmlformats.org/officeDocument/2006/relationships" id="265" r:id="R006a48ced23b47e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4192ae98f424488" /><Relationship Type="http://schemas.openxmlformats.org/officeDocument/2006/relationships/slideMaster" Target="/ppt/slideMasters/slideMaster1.xml" Id="Re2a10ff3cbb147b2" /><Relationship Type="http://schemas.openxmlformats.org/officeDocument/2006/relationships/notesMaster" Target="/ppt/notesMasters/notesMaster1.xml" Id="Rfd345afc581f47e7" /><Relationship Type="http://schemas.openxmlformats.org/officeDocument/2006/relationships/presProps" Target="/ppt/presProps.xml" Id="R204bf81ebebf4c4f" /><Relationship Type="http://schemas.openxmlformats.org/officeDocument/2006/relationships/tableStyles" Target="/ppt/tableStyles.xml" Id="R4ea871521f2f4cdd" /><Relationship Type="http://schemas.openxmlformats.org/officeDocument/2006/relationships/slide" Target="/ppt/slides/slide1.xml" Id="R65558bb146274907" /><Relationship Type="http://schemas.openxmlformats.org/officeDocument/2006/relationships/slide" Target="/ppt/slides/slide2.xml" Id="R7e89dd923cf2476d" /><Relationship Type="http://schemas.openxmlformats.org/officeDocument/2006/relationships/slide" Target="/ppt/slides/slide3.xml" Id="Rbc47a30754274961" /><Relationship Type="http://schemas.openxmlformats.org/officeDocument/2006/relationships/slide" Target="/ppt/slides/slide4.xml" Id="R945d76b33ef64f2a" /><Relationship Type="http://schemas.openxmlformats.org/officeDocument/2006/relationships/slide" Target="/ppt/slides/slide5.xml" Id="R1c248990b7f8482d" /><Relationship Type="http://schemas.openxmlformats.org/officeDocument/2006/relationships/slide" Target="/ppt/slides/slide6.xml" Id="Ra944ebf8332a4a3a" /><Relationship Type="http://schemas.openxmlformats.org/officeDocument/2006/relationships/slide" Target="/ppt/slides/slide7.xml" Id="R8ac91ddd4e4c4972" /><Relationship Type="http://schemas.openxmlformats.org/officeDocument/2006/relationships/slide" Target="/ppt/slides/slide8.xml" Id="R696861dbc0ba4344" /><Relationship Type="http://schemas.openxmlformats.org/officeDocument/2006/relationships/slide" Target="/ppt/slides/slide9.xml" Id="Rddd19dd034cc4f2a" /><Relationship Type="http://schemas.openxmlformats.org/officeDocument/2006/relationships/slide" Target="/ppt/slides/slide10.xml" Id="R006a48ced23b47e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7914d19af11411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6d7d37cfa4b484c" /><Relationship Type="http://schemas.openxmlformats.org/officeDocument/2006/relationships/notesMaster" Target="/ppt/notesMasters/notesMaster1.xml" Id="R02463d7ff542423c" /></Relationships>
</file>

<file path=ppt/notesSlides/_rels/notesSlide2.xml.rels>&#65279;<?xml version="1.0" encoding="utf-8"?><Relationships xmlns="http://schemas.openxmlformats.org/package/2006/relationships"><Relationship Type="http://schemas.openxmlformats.org/officeDocument/2006/relationships/slide" Target="/ppt/slides/slide2.xml" Id="Rcb1d8d80c5804cdd" /><Relationship Type="http://schemas.openxmlformats.org/officeDocument/2006/relationships/notesMaster" Target="/ppt/notesMasters/notesMaster1.xml" Id="Ra2fe5344def04a69" /></Relationships>
</file>

<file path=ppt/notesSlides/_rels/notesSlide3.xml.rels>&#65279;<?xml version="1.0" encoding="utf-8"?><Relationships xmlns="http://schemas.openxmlformats.org/package/2006/relationships"><Relationship Type="http://schemas.openxmlformats.org/officeDocument/2006/relationships/slide" Target="/ppt/slides/slide3.xml" Id="R8bd7249d08be4698" /><Relationship Type="http://schemas.openxmlformats.org/officeDocument/2006/relationships/notesMaster" Target="/ppt/notesMasters/notesMaster1.xml" Id="Rc0513486bde9469b" /></Relationships>
</file>

<file path=ppt/notesSlides/_rels/notesSlide4.xml.rels>&#65279;<?xml version="1.0" encoding="utf-8"?><Relationships xmlns="http://schemas.openxmlformats.org/package/2006/relationships"><Relationship Type="http://schemas.openxmlformats.org/officeDocument/2006/relationships/slide" Target="/ppt/slides/slide4.xml" Id="Rc74ccbdd7a404944" /><Relationship Type="http://schemas.openxmlformats.org/officeDocument/2006/relationships/notesMaster" Target="/ppt/notesMasters/notesMaster1.xml" Id="R4413d0afd55a4b94" /></Relationships>
</file>

<file path=ppt/notesSlides/_rels/notesSlide5.xml.rels>&#65279;<?xml version="1.0" encoding="utf-8"?><Relationships xmlns="http://schemas.openxmlformats.org/package/2006/relationships"><Relationship Type="http://schemas.openxmlformats.org/officeDocument/2006/relationships/slide" Target="/ppt/slides/slide5.xml" Id="R88ac30a78cc243d6" /><Relationship Type="http://schemas.openxmlformats.org/officeDocument/2006/relationships/notesMaster" Target="/ppt/notesMasters/notesMaster1.xml" Id="Rcf4f2c80dd5745ca" /></Relationships>
</file>

<file path=ppt/notesSlides/_rels/notesSlide6.xml.rels>&#65279;<?xml version="1.0" encoding="utf-8"?><Relationships xmlns="http://schemas.openxmlformats.org/package/2006/relationships"><Relationship Type="http://schemas.openxmlformats.org/officeDocument/2006/relationships/slide" Target="/ppt/slides/slide6.xml" Id="Rcb9ddd6702ea4058" /><Relationship Type="http://schemas.openxmlformats.org/officeDocument/2006/relationships/notesMaster" Target="/ppt/notesMasters/notesMaster1.xml" Id="R883f47733f834d48" /></Relationships>
</file>

<file path=ppt/notesSlides/_rels/notesSlide7.xml.rels>&#65279;<?xml version="1.0" encoding="utf-8"?><Relationships xmlns="http://schemas.openxmlformats.org/package/2006/relationships"><Relationship Type="http://schemas.openxmlformats.org/officeDocument/2006/relationships/slide" Target="/ppt/slides/slide7.xml" Id="R8e5b3e79a5cb4789" /><Relationship Type="http://schemas.openxmlformats.org/officeDocument/2006/relationships/notesMaster" Target="/ppt/notesMasters/notesMaster1.xml" Id="R62b162b6748a407d" /></Relationships>
</file>

<file path=ppt/notesSlides/_rels/notesSlide8.xml.rels>&#65279;<?xml version="1.0" encoding="utf-8"?><Relationships xmlns="http://schemas.openxmlformats.org/package/2006/relationships"><Relationship Type="http://schemas.openxmlformats.org/officeDocument/2006/relationships/slide" Target="/ppt/slides/slide8.xml" Id="Rc0f2184ebec544c9" /><Relationship Type="http://schemas.openxmlformats.org/officeDocument/2006/relationships/notesMaster" Target="/ppt/notesMasters/notesMaster1.xml" Id="R269b9610d052458b" /></Relationships>
</file>

<file path=ppt/notesSlides/_rels/notesSlide9.xml.rels>&#65279;<?xml version="1.0" encoding="utf-8"?><Relationships xmlns="http://schemas.openxmlformats.org/package/2006/relationships"><Relationship Type="http://schemas.openxmlformats.org/officeDocument/2006/relationships/slide" Target="/ppt/slides/slide9.xml" Id="R9c9be0209ed64924" /><Relationship Type="http://schemas.openxmlformats.org/officeDocument/2006/relationships/notesMaster" Target="/ppt/notesMasters/notesMaster1.xml" Id="Rbd2ee5330f49465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97263ae2c854527" /><Relationship Type="http://schemas.openxmlformats.org/officeDocument/2006/relationships/notesMaster" Target="/ppt/notesMasters/notesMaster1.xml" Id="R1334635cfd0a453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A convincing claim can leave a person with an unresolved question: what does this finding actually establish, and what should I ask at my next discussion? EvidenceLoop connects that question to its source and keeps the context available when the person returns. Our focus is Healthcare Challenge 2: long-term self-care.</a:t>
            </a:r>
          </a:p>
          <a:p xmlns:a="http://schemas.openxmlformats.org/drawingml/2006/main">
            <a:r>
              <a:t/>
            </a:r>
          </a:p>
          <a:p xmlns:a="http://schemas.openxmlformats.org/drawingml/2006/main">
            <a:r>
              <a:t>The intended healthcare benefit remains a product hypothesis. User supplied AJ_001, solo entry and NTU on 14 October 2026.</a:t>
            </a:r>
          </a:p>
          <a:p xmlns:a="http://schemas.openxmlformats.org/drawingml/2006/main">
            <a:r>
              <a:t/>
            </a:r>
          </a:p>
          <a:p xmlns:a="http://schemas.openxmlformats.org/drawingml/2006/main">
            <a:r>
              <a:t>Sources (repository-relative unless URL shown)</a:t>
            </a:r>
          </a:p>
          <a:p xmlns:a="http://schemas.openxmlformats.org/drawingml/2006/main">
            <a:r>
              <a:t>docs/submission/ENTRY_DRAFT.md</a:t>
            </a:r>
          </a:p>
          <a:p xmlns:a="http://schemas.openxmlformats.org/drawingml/2006/main">
            <a:r>
              <a:t>docs/planning/SPONSOR_VERIFICATION.md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This is a working local engineering prototype. The demonstration uses a fictional fern study, and replay is visibly labeled. It is not a health recommendation or a live model response. We chose this example so you can inspect the behavior without confusing an unfinished clinical evidence library with approved medical advice.</a:t>
            </a:r>
          </a:p>
          <a:p xmlns:a="http://schemas.openxmlformats.org/drawingml/2006/main">
            <a:r>
              <a:t/>
            </a:r>
          </a:p>
          <a:p xmlns:a="http://schemas.openxmlformats.org/drawingml/2006/main">
            <a:r>
              <a:t/>
            </a:r>
          </a:p>
          <a:p xmlns:a="http://schemas.openxmlformats.org/drawingml/2006/main">
            <a:r>
              <a:t/>
            </a:r>
          </a:p>
          <a:p xmlns:a="http://schemas.openxmlformats.org/drawingml/2006/main">
            <a:r>
              <a:t>Sources (repository-relative unless URL shown)</a:t>
            </a:r>
          </a:p>
          <a:p xmlns:a="http://schemas.openxmlformats.org/drawingml/2006/main">
            <a:r>
              <a:t>artifacts/submission-20261014/screenshots/01-home.jpg</a:t>
            </a:r>
          </a:p>
          <a:p xmlns:a="http://schemas.openxmlformats.org/drawingml/2006/main">
            <a:r>
              <a:t>docs/BUILD_STATUS.md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First, the user checks what the claim means. The fictional study describes glow water, fern height, seven days and a plain-water comparison. The user's intention is separate from the words of the claim. Confirmation records the meaning to assess; it does not make the claim true. Unstated information can remain unknown instead of becoming an invented detail.</a:t>
            </a:r>
          </a:p>
          <a:p xmlns:a="http://schemas.openxmlformats.org/drawingml/2006/main">
            <a:r>
              <a:t/>
            </a:r>
          </a:p>
          <a:p xmlns:a="http://schemas.openxmlformats.org/drawingml/2006/main">
            <a:r>
              <a:t/>
            </a:r>
          </a:p>
          <a:p xmlns:a="http://schemas.openxmlformats.org/drawingml/2006/main">
            <a:r>
              <a:t/>
            </a:r>
          </a:p>
          <a:p xmlns:a="http://schemas.openxmlformats.org/drawingml/2006/main">
            <a:r>
              <a:t>Sources (repository-relative unless URL shown)</a:t>
            </a:r>
          </a:p>
          <a:p xmlns:a="http://schemas.openxmlformats.org/drawingml/2006/main">
            <a:r>
              <a:t>artifacts/submission-20261014/screenshots/02-interpretation.jpg</a:t>
            </a:r>
          </a:p>
          <a:p xmlns:a="http://schemas.openxmlformats.org/drawingml/2006/main">
            <a:r>
              <a:t>services/api/app/main.py</a:t>
            </a:r>
          </a:p>
          <a:p xmlns:a="http://schemas.openxmlformats.org/drawingml/2006/main">
            <a:r>
              <a:t>apps/web/src/Interpretation.tsx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The receipt keeps the source and its limits inspectable. A finding about one outcome in one setting does not establish a guarantee for every situation. The interface separates the evidence relationship, coverage and intended action. These are bounded demonstration results. A source passage can show where a statement came from; it cannot by itself prove that every inference or personal action is justified.</a:t>
            </a:r>
          </a:p>
          <a:p xmlns:a="http://schemas.openxmlformats.org/drawingml/2006/main">
            <a:r>
              <a:t/>
            </a:r>
          </a:p>
          <a:p xmlns:a="http://schemas.openxmlformats.org/drawingml/2006/main">
            <a:r>
              <a:t>The shown verdict belongs to an authored unchanged replay. It does not establish exact directional comparison for arbitrary manual or live claims.</a:t>
            </a:r>
          </a:p>
          <a:p xmlns:a="http://schemas.openxmlformats.org/drawingml/2006/main">
            <a:r>
              <a:t/>
            </a:r>
          </a:p>
          <a:p xmlns:a="http://schemas.openxmlformats.org/drawingml/2006/main">
            <a:r>
              <a:t>Sources (repository-relative unless URL shown)</a:t>
            </a:r>
          </a:p>
          <a:p xmlns:a="http://schemas.openxmlformats.org/drawingml/2006/main">
            <a:r>
              <a:t>artifacts/submission-20261014/screenshots/04-source.jpg</a:t>
            </a:r>
          </a:p>
          <a:p xmlns:a="http://schemas.openxmlformats.org/drawingml/2006/main">
            <a:r>
              <a:t>evidence/synthetic_nonclinical.json</a:t>
            </a:r>
          </a:p>
          <a:p xmlns:a="http://schemas.openxmlformats.org/drawingml/2006/main">
            <a:r>
              <a:t>apps/web/src/Assessment.tsx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The next step is an exact question the user can preview. Saving is a separate choice. The screen explains what will be retained, and the save button requires consent. The original pasted text is not stored with the saved record. Now we simulate a later visit. The person chooses to record that they discussed the question. This is labeled a self-report, not verified adherence, improved understanding or a health outcome.</a:t>
            </a:r>
          </a:p>
          <a:p xmlns:a="http://schemas.openxmlformats.org/drawingml/2006/main">
            <a:r>
              <a:t/>
            </a:r>
          </a:p>
          <a:p xmlns:a="http://schemas.openxmlformats.org/drawingml/2006/main">
            <a:r>
              <a:t>The later visit is simulated. No real healthcare discussion is asserted. The screenshots show actual local replay actions, not live inference.</a:t>
            </a:r>
          </a:p>
          <a:p xmlns:a="http://schemas.openxmlformats.org/drawingml/2006/main">
            <a:r>
              <a:t/>
            </a:r>
          </a:p>
          <a:p xmlns:a="http://schemas.openxmlformats.org/drawingml/2006/main">
            <a:r>
              <a:t>Sources (repository-relative unless URL shown)</a:t>
            </a:r>
          </a:p>
          <a:p xmlns:a="http://schemas.openxmlformats.org/drawingml/2006/main">
            <a:r>
              <a:t>artifacts/submission-20261014/screenshots/05-consent.jpg</a:t>
            </a:r>
          </a:p>
          <a:p xmlns:a="http://schemas.openxmlformats.org/drawingml/2006/main">
            <a:r>
              <a:t>artifacts/submission-20261014/screenshots/07-checkin.jpg</a:t>
            </a:r>
          </a:p>
          <a:p xmlns:a="http://schemas.openxmlformats.org/drawingml/2006/main">
            <a:r>
              <a:t>services/api/app/storage.py</a:t>
            </a:r>
          </a:p>
          <a:p xmlns:a="http://schemas.openxmlformats.org/drawingml/2006/main">
            <a:r>
              <a:t>apps/web/src/Saved.tsx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A saved answer must not quietly preserve authority after its evidence changes. These captures show the result of withdrawing a fictional source. When the user reopens the saved receipt, the application checks current source status again. The historical record remains inspectable, but the withdrawn dependency blocks relevant new use. This is a synthetic withdrawal exercise, not a real publisher correction or a claim that we automatically monitor medical literature.</a:t>
            </a:r>
          </a:p>
          <a:p xmlns:a="http://schemas.openxmlformats.org/drawingml/2006/main">
            <a:r>
              <a:t/>
            </a:r>
          </a:p>
          <a:p xmlns:a="http://schemas.openxmlformats.org/drawingml/2006/main">
            <a:r>
              <a:t>The added tests exercise an ordered invalidation window. They do not establish general concurrency correctness.</a:t>
            </a:r>
          </a:p>
          <a:p xmlns:a="http://schemas.openxmlformats.org/drawingml/2006/main">
            <a:r>
              <a:t/>
            </a:r>
          </a:p>
          <a:p xmlns:a="http://schemas.openxmlformats.org/drawingml/2006/main">
            <a:r>
              <a:t>Sources (repository-relative unless URL shown)</a:t>
            </a:r>
          </a:p>
          <a:p xmlns:a="http://schemas.openxmlformats.org/drawingml/2006/main">
            <a:r>
              <a:t>artifacts/submission-20261014/screenshots/08-withdrawn.jpg</a:t>
            </a:r>
          </a:p>
          <a:p xmlns:a="http://schemas.openxmlformats.org/drawingml/2006/main">
            <a:r>
              <a:t>services/api/app/review.py</a:t>
            </a:r>
          </a:p>
          <a:p xmlns:a="http://schemas.openxmlformats.org/drawingml/2006/main">
            <a:r>
              <a:t>tests/test_api_review.py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Ambiguous input should not produce confident advice. This fictional sentence does not identify the people, intervention or outcome. The user can clarify what they mean, or leave it unresolved. The application shows its limits. Our live reader remains disabled because no tested model has passed qualification, so this screen is manual fallback, not a staged AI success.</a:t>
            </a:r>
          </a:p>
          <a:p xmlns:a="http://schemas.openxmlformats.org/drawingml/2006/main">
            <a:r>
              <a:t/>
            </a:r>
          </a:p>
          <a:p xmlns:a="http://schemas.openxmlformats.org/drawingml/2006/main">
            <a:r>
              <a:t>On 14 October, further bounded model trials are in progress. No new qualification is claimed. The existing documented last complete known-regression run failed.</a:t>
            </a:r>
          </a:p>
          <a:p xmlns:a="http://schemas.openxmlformats.org/drawingml/2006/main">
            <a:r>
              <a:t/>
            </a:r>
          </a:p>
          <a:p xmlns:a="http://schemas.openxmlformats.org/drawingml/2006/main">
            <a:r>
              <a:t>Sources (repository-relative unless URL shown)</a:t>
            </a:r>
          </a:p>
          <a:p xmlns:a="http://schemas.openxmlformats.org/drawingml/2006/main">
            <a:r>
              <a:t>artifacts/submission-20261014/screenshots/09-ambiguous.jpg</a:t>
            </a:r>
          </a:p>
          <a:p xmlns:a="http://schemas.openxmlformats.org/drawingml/2006/main">
            <a:r>
              <a:t>docs/AI_EXTRACTION_VERIFICATION_20261013.md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React presents the workflow, FastAPI enforces policy and versions, and PostgreSQL stores consented records and separate evidence-review history. Before save, drafts live in expiring server memory. The optional model can propose structure, but it cannot approve evidence or authorize a write. The application checks quotes, schemas, ownership, consent and current evidence. A local single-process design keeps the prototype small; it does not provide production hosting or cross-device recovery.</a:t>
            </a:r>
          </a:p>
          <a:p xmlns:a="http://schemas.openxmlformats.org/drawingml/2006/main">
            <a:r>
              <a:t/>
            </a:r>
          </a:p>
          <a:p xmlns:a="http://schemas.openxmlformats.org/drawingml/2006/main">
            <a:r>
              <a:t>No qualified clinical publication is installed. The local prototype does not provide cross-device recovery or production monitoring. Extraction-only comparison remains constrained while directional representation is incomplete.</a:t>
            </a:r>
          </a:p>
          <a:p xmlns:a="http://schemas.openxmlformats.org/drawingml/2006/main">
            <a:r>
              <a:t/>
            </a:r>
          </a:p>
          <a:p xmlns:a="http://schemas.openxmlformats.org/drawingml/2006/main">
            <a:r>
              <a:t>Sources (repository-relative unless URL shown)</a:t>
            </a:r>
          </a:p>
          <a:p xmlns:a="http://schemas.openxmlformats.org/drawingml/2006/main">
            <a:r>
              <a:t>docs/ARCHITECTURE.md</a:t>
            </a:r>
          </a:p>
          <a:p xmlns:a="http://schemas.openxmlformats.org/drawingml/2006/main">
            <a:r>
              <a:t>services/api/app/main.py</a:t>
            </a:r>
          </a:p>
          <a:p xmlns:a="http://schemas.openxmlformats.org/drawingml/2006/main">
            <a:r>
              <a:t>services/api/app/storage.py</a:t>
            </a:r>
          </a:p>
          <a:p xmlns:a="http://schemas.openxmlformats.org/drawingml/2006/main">
            <a:r>
              <a:t>services/api/app/review.py</a:t>
            </a:r>
          </a:p>
          <a:p xmlns:a="http://schemas.openxmlformats.org/drawingml/2006/main">
            <a:r>
              <a:t>services/api/app/compiler.py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WorkBuddy contributed genuine development review. Its Hy3 model examined consent and source-withdrawal code and proposed missing negative tests. Codex corrected and implemented the proposals and ran the local checks: forty-four related tests passed. These captures record the contribution and corrections. WorkBuddy did not run the tests or provide clinical approval.</a:t>
            </a:r>
          </a:p>
          <a:p xmlns:a="http://schemas.openxmlformats.org/drawingml/2006/main">
            <a:r>
              <a:t/>
            </a:r>
          </a:p>
          <a:p xmlns:a="http://schemas.openxmlformats.org/drawingml/2006/main">
            <a:r>
              <a:t>WorkBuddy did not execute local tests. Codex corrected the proposed fixture and row-comparison mistakes and extended consent coverage.</a:t>
            </a:r>
          </a:p>
          <a:p xmlns:a="http://schemas.openxmlformats.org/drawingml/2006/main">
            <a:r>
              <a:t/>
            </a:r>
          </a:p>
          <a:p xmlns:a="http://schemas.openxmlformats.org/drawingml/2006/main">
            <a:r>
              <a:t>Sources (repository-relative unless URL shown)</a:t>
            </a:r>
          </a:p>
          <a:p xmlns:a="http://schemas.openxmlformats.org/drawingml/2006/main">
            <a:r>
              <a:t>docs/sponsor-evidence/2026-10-13/README.md</a:t>
            </a:r>
          </a:p>
          <a:p xmlns:a="http://schemas.openxmlformats.org/drawingml/2006/main">
            <a:r>
              <a:t>docs/sponsor-evidence/2026-10-13/04-local-validation-review.png</a:t>
            </a:r>
          </a:p>
          <a:p xmlns:a="http://schemas.openxmlformats.org/drawingml/2006/main">
            <a:r>
              <a:t>docs/sponsor-evidence/2026-10-13/validation.txt</a:t>
            </a:r>
          </a:p>
          <a:p xmlns:a="http://schemas.openxmlformats.org/drawingml/2006/main">
            <a:r>
              <a:t>docs/sponsor-evidence/2026-10-13/manifest.json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The evidence is deliberately specific. At the October thirteenth checkpoint, the Python suite passed four hundred ninety-nine tests plus fifty-one subtests. At that checkpoint, a reader probe matched ten of twelve known regression cases and still failed qualification. We have no clinical validation or measured health benefit. EvidenceLoop demonstrates a way to keep meaning, consent and changing evidence connected. The next proof is reliable reading, independent source review and observed use with fictional tasks.</a:t>
            </a:r>
          </a:p>
          <a:p xmlns:a="http://schemas.openxmlformats.org/drawingml/2006/main">
            <a:r>
              <a:t/>
            </a:r>
          </a:p>
          <a:p xmlns:a="http://schemas.openxmlformats.org/drawingml/2006/main">
            <a:r>
              <a:t>Do not sum the dated suite counts. The 13 October checkpoint reader run used Gemini 3.1 Flash-Lite, prompt 1.12, medium reasoning, max 7.015 seconds on known regression. The frozen gate failed. Subsequent experiments require their own updated report.</a:t>
            </a:r>
          </a:p>
          <a:p xmlns:a="http://schemas.openxmlformats.org/drawingml/2006/main">
            <a:r>
              <a:t/>
            </a:r>
          </a:p>
          <a:p xmlns:a="http://schemas.openxmlformats.org/drawingml/2006/main">
            <a:r>
              <a:t>Sources (repository-relative unless URL shown)</a:t>
            </a:r>
          </a:p>
          <a:p xmlns:a="http://schemas.openxmlformats.org/drawingml/2006/main">
            <a:r>
              <a:t>docs/AI_EXTRACTION_VERIFICATION_20261013.md</a:t>
            </a:r>
          </a:p>
          <a:p xmlns:a="http://schemas.openxmlformats.org/drawingml/2006/main">
            <a:r>
              <a:t>docs/sponsor-evidence/2026-10-13/validation.txt</a:t>
            </a:r>
          </a:p>
          <a:p xmlns:a="http://schemas.openxmlformats.org/drawingml/2006/main">
            <a:r>
              <a:t>docs/submission/USABILITY_TASKS.md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fde0fd1fa0a49a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54e7a0b2d6e470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3ef4a54a0e2431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1270d2ae138493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f07817b0a3b466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f6576a02c05420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F4A2995-36B1-4FC1-967C-D808966E07F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C05691C-7033-4C5D-84BF-44E0D244BA4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84DE95B-49EE-468B-9F10-519920AAB7C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8E516DD-A5CB-4F53-978B-08699AE6265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2D79406-73CC-4986-B552-6F0E7F5FD4E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A047914-9028-4FF8-9172-B874A888857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1CDE7BD-62F5-46A3-87D8-5A8EBEFF766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4DFE69F-F3B1-48B8-843F-8F358ED6FE7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C17F5BD-9C24-4ECA-9700-21EF73C29FF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C89F931-5F2F-476C-8A75-A5D7819376E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819409ecd6d4e59" /><Relationship Type="http://schemas.openxmlformats.org/officeDocument/2006/relationships/slideLayout" Target="/ppt/slideLayouts/slideLayout1.xml" Id="Ree7d287b7d4b4550" /><Relationship Type="http://schemas.openxmlformats.org/officeDocument/2006/relationships/slideLayout" Target="/ppt/slideLayouts/slideLayout2.xml" Id="Rd1ae83206bab4dc4" /><Relationship Type="http://schemas.openxmlformats.org/officeDocument/2006/relationships/slideLayout" Target="/ppt/slideLayouts/slideLayout3.xml" Id="R59c2512cea934846" /><Relationship Type="http://schemas.openxmlformats.org/officeDocument/2006/relationships/slideLayout" Target="/ppt/slideLayouts/slideLayout4.xml" Id="R30322af678794b78" /><Relationship Type="http://schemas.openxmlformats.org/officeDocument/2006/relationships/slideLayout" Target="/ppt/slideLayouts/slideLayout5.xml" Id="R854476b07e9a4fee" /><Relationship Type="http://schemas.openxmlformats.org/officeDocument/2006/relationships/slideLayout" Target="/ppt/slideLayouts/slideLayout6.xml" Id="Rcd4e70b117da49b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e7d287b7d4b4550"/>
    <p:sldLayoutId xmlns:r="http://schemas.openxmlformats.org/officeDocument/2006/relationships" id="2147483650" r:id="Rd1ae83206bab4dc4"/>
    <p:sldLayoutId xmlns:r="http://schemas.openxmlformats.org/officeDocument/2006/relationships" id="2147483651" r:id="R59c2512cea934846"/>
    <p:sldLayoutId xmlns:r="http://schemas.openxmlformats.org/officeDocument/2006/relationships" id="2147483652" r:id="R30322af678794b78"/>
    <p:sldLayoutId xmlns:r="http://schemas.openxmlformats.org/officeDocument/2006/relationships" id="2147483653" r:id="R854476b07e9a4fee"/>
    <p:sldLayoutId xmlns:r="http://schemas.openxmlformats.org/officeDocument/2006/relationships" id="2147483654" r:id="Rcd4e70b117da49b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a3556b5e0654ec5" /><Relationship Type="http://schemas.openxmlformats.org/officeDocument/2006/relationships/notesSlide" Target="/ppt/notesSlides/notesSlide1.xml" Id="R4ed2230d64e34d2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91c1f3fa8e340ff" /><Relationship Type="http://schemas.openxmlformats.org/officeDocument/2006/relationships/image" Target="/ppt/media/image.jpeg" Id="Rb29bbed172b6403a" /><Relationship Type="http://schemas.openxmlformats.org/officeDocument/2006/relationships/notesSlide" Target="/ppt/notesSlides/notesSlide2.xml" Id="Rcb53d6d79c4d46d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77a500fdb0c466f" /><Relationship Type="http://schemas.openxmlformats.org/officeDocument/2006/relationships/image" Target="/ppt/media/image2.jpeg" Id="Raf970fd9f7e54733" /><Relationship Type="http://schemas.openxmlformats.org/officeDocument/2006/relationships/notesSlide" Target="/ppt/notesSlides/notesSlide3.xml" Id="R8b9cea160743428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49ccdb072d74727" /><Relationship Type="http://schemas.openxmlformats.org/officeDocument/2006/relationships/image" Target="/ppt/media/image3.jpeg" Id="Rca3f23c84e344c1f" /><Relationship Type="http://schemas.openxmlformats.org/officeDocument/2006/relationships/notesSlide" Target="/ppt/notesSlides/notesSlide4.xml" Id="R0061896273e54a8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94b18ce8b574d3e" /><Relationship Type="http://schemas.openxmlformats.org/officeDocument/2006/relationships/image" Target="/ppt/media/image4.jpeg" Id="R1692bcce0e744c7b" /><Relationship Type="http://schemas.openxmlformats.org/officeDocument/2006/relationships/image" Target="/ppt/media/image5.jpeg" Id="R77b943ae121e4f8b" /><Relationship Type="http://schemas.openxmlformats.org/officeDocument/2006/relationships/notesSlide" Target="/ppt/notesSlides/notesSlide5.xml" Id="Rbd7560d93dde435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5803185091f431c" /><Relationship Type="http://schemas.openxmlformats.org/officeDocument/2006/relationships/image" Target="/ppt/media/image6.jpeg" Id="R911ef2c4901f4696" /><Relationship Type="http://schemas.openxmlformats.org/officeDocument/2006/relationships/notesSlide" Target="/ppt/notesSlides/notesSlide6.xml" Id="Rf2e4eea7c899487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67edbdf260b42a1" /><Relationship Type="http://schemas.openxmlformats.org/officeDocument/2006/relationships/image" Target="/ppt/media/image7.jpeg" Id="R385804aa83494ff6" /><Relationship Type="http://schemas.openxmlformats.org/officeDocument/2006/relationships/notesSlide" Target="/ppt/notesSlides/notesSlide7.xml" Id="R1d5401349f36473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61ee53e31f146e1" /><Relationship Type="http://schemas.openxmlformats.org/officeDocument/2006/relationships/notesSlide" Target="/ppt/notesSlides/notesSlide8.xml" Id="Re70a30ea05ff423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220c728fddb4470" /><Relationship Type="http://schemas.openxmlformats.org/officeDocument/2006/relationships/image" Target="/ppt/media/image8.jpeg" Id="R6fd309877c774f21" /><Relationship Type="http://schemas.openxmlformats.org/officeDocument/2006/relationships/notesSlide" Target="/ppt/notesSlides/notesSlide9.xml" Id="R2e1228f02c25458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0e2fe182d384979" /><Relationship Type="http://schemas.openxmlformats.org/officeDocument/2006/relationships/notesSlide" Target="/ppt/notesSlides/notesSlide10.xml" Id="Rb4140195818f4c9b" /></Relationships>
</file>

<file path=ppt/slides/slide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track">
            <a:extLst xmlns:a="http://schemas.openxmlformats.org/drawingml/2006/main">
              <a:ext uri="{FF2B5EF4-FFF2-40B4-BE49-F238E27FC236}">
                <a16:creationId xmlns:a16="http://schemas.microsoft.com/office/drawing/2014/main" id="{9FA22AE1-8F85-497A-8051-20C1D3BB305D}"/>
              </a:ext>
            </a:extLst>
          </p:cNvPr>
          <p:cNvSpPr>
            <a:spLocks xmlns:a="http://schemas.openxmlformats.org/drawingml/2006/main" noGrp="1"/>
          </p:cNvSpPr>
          <p:nvPr/>
        </p:nvSpPr>
        <p:spPr>
          <a:xfrm xmlns:a="http://schemas.openxmlformats.org/drawingml/2006/main">
            <a:off x="647700" y="55245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75D51"/>
                </a:solidFill>
                <a:latin typeface="Arial"/>
                <a:ea typeface="Arial"/>
                <a:cs typeface="Arial"/>
              </a:defRPr>
            </a:defPPr>
          </a:lstStyle>
          <a:p xmlns:a="http://schemas.openxmlformats.org/drawingml/2006/main">
            <a:pPr>
              <a:defRPr sz="1800" b="0">
                <a:solidFill>
                  <a:srgbClr val="275D51"/>
                </a:solidFill>
                <a:latin typeface="Arial"/>
                <a:ea typeface="Arial"/>
                <a:cs typeface="Arial"/>
              </a:defRPr>
            </a:pPr>
            <a:r>
              <a:rPr sz="1800" b="0">
                <a:solidFill>
                  <a:srgbClr val="275D51"/>
                </a:solidFill>
                <a:latin typeface="Arial"/>
                <a:ea typeface="Arial"/>
                <a:cs typeface="Arial"/>
              </a:rPr>
              <a:t>Healthcare Challenge 2: long-term self-care</a:t>
            </a:r>
          </a:p>
        </p:txBody>
      </p:sp>
      <p:sp>
        <p:nvSpPr>
          <p:cNvPr id="2" name="title">
            <a:extLst xmlns:a="http://schemas.openxmlformats.org/drawingml/2006/main">
              <a:ext uri="{FF2B5EF4-FFF2-40B4-BE49-F238E27FC236}">
                <a16:creationId xmlns:a16="http://schemas.microsoft.com/office/drawing/2014/main" id="{7BC2B161-DD50-406C-A361-D8D656A78ED3}"/>
              </a:ext>
            </a:extLst>
          </p:cNvPr>
          <p:cNvSpPr>
            <a:spLocks xmlns:a="http://schemas.openxmlformats.org/drawingml/2006/main" noGrp="1"/>
          </p:cNvSpPr>
          <p:nvPr/>
        </p:nvSpPr>
        <p:spPr>
          <a:xfrm xmlns:a="http://schemas.openxmlformats.org/drawingml/2006/main">
            <a:off x="609600" y="1647825"/>
            <a:ext cx="10953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200" b="0">
                <a:solidFill>
                  <a:srgbClr val="243B33"/>
                </a:solidFill>
                <a:latin typeface="Georgia"/>
                <a:ea typeface="Georgia"/>
                <a:cs typeface="Georgia"/>
              </a:defRPr>
            </a:defPPr>
          </a:lstStyle>
          <a:p xmlns:a="http://schemas.openxmlformats.org/drawingml/2006/main">
            <a:pPr>
              <a:defRPr sz="7200" b="0">
                <a:solidFill>
                  <a:srgbClr val="243B33"/>
                </a:solidFill>
                <a:latin typeface="Georgia"/>
                <a:ea typeface="Georgia"/>
                <a:cs typeface="Georgia"/>
              </a:defRPr>
            </a:pPr>
            <a:r>
              <a:rPr sz="7200" b="0">
                <a:solidFill>
                  <a:srgbClr val="243B33"/>
                </a:solidFill>
                <a:latin typeface="Georgia"/>
                <a:ea typeface="Georgia"/>
                <a:cs typeface="Georgia"/>
              </a:rPr>
              <a:t>EvidenceLoop</a:t>
            </a:r>
          </a:p>
        </p:txBody>
      </p:sp>
      <p:sp>
        <p:nvSpPr>
          <p:cNvPr id="3" name="blurb">
            <a:extLst xmlns:a="http://schemas.openxmlformats.org/drawingml/2006/main">
              <a:ext uri="{FF2B5EF4-FFF2-40B4-BE49-F238E27FC236}">
                <a16:creationId xmlns:a16="http://schemas.microsoft.com/office/drawing/2014/main" id="{0F988FED-5E36-4320-8BF5-A5C4DABA4438}"/>
              </a:ext>
            </a:extLst>
          </p:cNvPr>
          <p:cNvSpPr>
            <a:spLocks xmlns:a="http://schemas.openxmlformats.org/drawingml/2006/main" noGrp="1"/>
          </p:cNvSpPr>
          <p:nvPr/>
        </p:nvSpPr>
        <p:spPr>
          <a:xfrm xmlns:a="http://schemas.openxmlformats.org/drawingml/2006/main">
            <a:off x="657225" y="3114675"/>
            <a:ext cx="103822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0">
                <a:solidFill>
                  <a:srgbClr val="275D51"/>
                </a:solidFill>
                <a:latin typeface="Georgia"/>
                <a:ea typeface="Georgia"/>
                <a:cs typeface="Georgia"/>
              </a:defRPr>
            </a:defPPr>
          </a:lstStyle>
          <a:p xmlns:a="http://schemas.openxmlformats.org/drawingml/2006/main">
            <a:pPr>
              <a:defRPr sz="3450" b="0">
                <a:solidFill>
                  <a:srgbClr val="275D51"/>
                </a:solidFill>
                <a:latin typeface="Georgia"/>
                <a:ea typeface="Georgia"/>
                <a:cs typeface="Georgia"/>
              </a:defRPr>
            </a:pPr>
            <a:r>
              <a:rPr sz="3450" b="0">
                <a:solidFill>
                  <a:srgbClr val="275D51"/>
                </a:solidFill>
                <a:latin typeface="Georgia"/>
                <a:ea typeface="Georgia"/>
                <a:cs typeface="Georgia"/>
              </a:rPr>
              <a:t>Turn confusing health claims into</a:t>
            </a:r>
          </a:p>
          <a:p xmlns:a="http://schemas.openxmlformats.org/drawingml/2006/main">
            <a:pPr>
              <a:defRPr sz="3450" b="0">
                <a:solidFill>
                  <a:srgbClr val="275D51"/>
                </a:solidFill>
                <a:latin typeface="Georgia"/>
                <a:ea typeface="Georgia"/>
                <a:cs typeface="Georgia"/>
              </a:defRPr>
            </a:pPr>
            <a:r>
              <a:rPr sz="3450" b="0">
                <a:solidFill>
                  <a:srgbClr val="275D51"/>
                </a:solidFill>
                <a:latin typeface="Georgia"/>
                <a:ea typeface="Georgia"/>
                <a:cs typeface="Georgia"/>
              </a:rPr>
              <a:t>questions worth following up.</a:t>
            </a:r>
          </a:p>
        </p:txBody>
      </p:sp>
      <p:sp>
        <p:nvSpPr>
          <p:cNvPr id="4" name="author">
            <a:extLst xmlns:a="http://schemas.openxmlformats.org/drawingml/2006/main">
              <a:ext uri="{FF2B5EF4-FFF2-40B4-BE49-F238E27FC236}">
                <a16:creationId xmlns:a16="http://schemas.microsoft.com/office/drawing/2014/main" id="{248C5BC2-E2DA-4F06-8B8F-DE34F00E260D}"/>
              </a:ext>
            </a:extLst>
          </p:cNvPr>
          <p:cNvSpPr>
            <a:spLocks xmlns:a="http://schemas.openxmlformats.org/drawingml/2006/main" noGrp="1"/>
          </p:cNvSpPr>
          <p:nvPr/>
        </p:nvSpPr>
        <p:spPr>
          <a:xfrm xmlns:a="http://schemas.openxmlformats.org/drawingml/2006/main">
            <a:off x="666750" y="5124450"/>
            <a:ext cx="1038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43B33"/>
                </a:solidFill>
                <a:latin typeface="Arial"/>
                <a:ea typeface="Arial"/>
                <a:cs typeface="Arial"/>
              </a:defRPr>
            </a:defPPr>
          </a:lstStyle>
          <a:p xmlns:a="http://schemas.openxmlformats.org/drawingml/2006/main">
            <a:pPr>
              <a:defRPr sz="2025" b="0">
                <a:solidFill>
                  <a:srgbClr val="243B33"/>
                </a:solidFill>
                <a:latin typeface="Arial"/>
                <a:ea typeface="Arial"/>
                <a:cs typeface="Arial"/>
              </a:defRPr>
            </a:pPr>
            <a:r>
              <a:rPr sz="2025" b="0">
                <a:solidFill>
                  <a:srgbClr val="243B33"/>
                </a:solidFill>
                <a:latin typeface="Arial"/>
                <a:ea typeface="Arial"/>
                <a:cs typeface="Arial"/>
              </a:rPr>
              <a:t>AJ_001   /   Solo entry   /   NTU</a:t>
            </a:r>
          </a:p>
        </p:txBody>
      </p:sp>
      <p:sp>
        <p:nvSpPr>
          <p:cNvPr id="5" name="disclosure">
            <a:extLst xmlns:a="http://schemas.openxmlformats.org/drawingml/2006/main">
              <a:ext uri="{FF2B5EF4-FFF2-40B4-BE49-F238E27FC236}">
                <a16:creationId xmlns:a16="http://schemas.microsoft.com/office/drawing/2014/main" id="{8A5F18E6-334D-4CBB-B48D-CDDA683D6C1F}"/>
              </a:ext>
            </a:extLst>
          </p:cNvPr>
          <p:cNvSpPr>
            <a:spLocks xmlns:a="http://schemas.openxmlformats.org/drawingml/2006/main" noGrp="1"/>
          </p:cNvSpPr>
          <p:nvPr/>
        </p:nvSpPr>
        <p:spPr>
          <a:xfrm xmlns:a="http://schemas.openxmlformats.org/drawingml/2006/main">
            <a:off x="666750" y="6134100"/>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C6D64"/>
                </a:solidFill>
                <a:latin typeface="Arial"/>
                <a:ea typeface="Arial"/>
                <a:cs typeface="Arial"/>
              </a:defRPr>
            </a:defPPr>
          </a:lstStyle>
          <a:p xmlns:a="http://schemas.openxmlformats.org/drawingml/2006/main">
            <a:pPr>
              <a:defRPr sz="1575" b="0">
                <a:solidFill>
                  <a:srgbClr val="5C6D64"/>
                </a:solidFill>
                <a:latin typeface="Arial"/>
                <a:ea typeface="Arial"/>
                <a:cs typeface="Arial"/>
              </a:defRPr>
            </a:pPr>
            <a:r>
              <a:rPr sz="1575" b="0">
                <a:solidFill>
                  <a:srgbClr val="5C6D64"/>
                </a:solidFill>
                <a:latin typeface="Arial"/>
                <a:ea typeface="Arial"/>
                <a:cs typeface="Arial"/>
              </a:rPr>
              <a:t>Recorded screenshot walkthrough of a fictional engineering prototype</a:t>
            </a:r>
          </a:p>
        </p:txBody>
      </p:sp>
    </p:spTree>
    <p:extLst>
      <p:ext uri="{BB962C8B-B14F-4D97-AF65-F5344CB8AC3E}">
        <p14:creationId xmlns:p14="http://schemas.microsoft.com/office/powerpoint/2010/main" val="1188224850"/>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DFF1A5A5-0FAC-4297-A750-225E8A06008D}"/>
              </a:ext>
            </a:extLst>
          </p:cNvPr>
          <p:cNvSpPr>
            <a:spLocks xmlns:a="http://schemas.openxmlformats.org/drawingml/2006/main" noGrp="1"/>
          </p:cNvSpPr>
          <p:nvPr/>
        </p:nvSpPr>
        <p:spPr>
          <a:xfrm xmlns:a="http://schemas.openxmlformats.org/drawingml/2006/main">
            <a:off x="609600" y="4572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0">
                <a:solidFill>
                  <a:srgbClr val="243B33"/>
                </a:solidFill>
                <a:latin typeface="Georgia"/>
                <a:ea typeface="Georgia"/>
                <a:cs typeface="Georgia"/>
              </a:defRPr>
            </a:defPPr>
          </a:lstStyle>
          <a:p xmlns:a="http://schemas.openxmlformats.org/drawingml/2006/main">
            <a:pPr>
              <a:defRPr sz="3900" b="0">
                <a:solidFill>
                  <a:srgbClr val="243B33"/>
                </a:solidFill>
                <a:latin typeface="Georgia"/>
                <a:ea typeface="Georgia"/>
                <a:cs typeface="Georgia"/>
              </a:defRPr>
            </a:pPr>
            <a:r>
              <a:rPr sz="3900" b="0">
                <a:solidFill>
                  <a:srgbClr val="243B33"/>
                </a:solidFill>
                <a:latin typeface="Georgia"/>
                <a:ea typeface="Georgia"/>
                <a:cs typeface="Georgia"/>
              </a:rPr>
              <a:t>The current demonstration</a:t>
            </a:r>
          </a:p>
        </p:txBody>
      </p:sp>
      <p:sp>
        <p:nvSpPr>
          <p:cNvPr id="2" name="subtitle">
            <a:extLst xmlns:a="http://schemas.openxmlformats.org/drawingml/2006/main">
              <a:ext uri="{FF2B5EF4-FFF2-40B4-BE49-F238E27FC236}">
                <a16:creationId xmlns:a16="http://schemas.microsoft.com/office/drawing/2014/main" id="{57FEA576-6203-456B-852C-5C51E37FF906}"/>
              </a:ext>
            </a:extLst>
          </p:cNvPr>
          <p:cNvSpPr>
            <a:spLocks xmlns:a="http://schemas.openxmlformats.org/drawingml/2006/main" noGrp="1"/>
          </p:cNvSpPr>
          <p:nvPr/>
        </p:nvSpPr>
        <p:spPr>
          <a:xfrm xmlns:a="http://schemas.openxmlformats.org/drawingml/2006/main">
            <a:off x="628650" y="1333500"/>
            <a:ext cx="10934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C6D64"/>
                </a:solidFill>
                <a:latin typeface="Arial"/>
                <a:ea typeface="Arial"/>
                <a:cs typeface="Arial"/>
              </a:defRPr>
            </a:defPPr>
          </a:lstStyle>
          <a:p xmlns:a="http://schemas.openxmlformats.org/drawingml/2006/main">
            <a:pPr>
              <a:defRPr sz="1800" b="0">
                <a:solidFill>
                  <a:srgbClr val="5C6D64"/>
                </a:solidFill>
                <a:latin typeface="Arial"/>
                <a:ea typeface="Arial"/>
                <a:cs typeface="Arial"/>
              </a:defRPr>
            </a:pPr>
            <a:r>
              <a:rPr sz="1800" b="0">
                <a:solidFill>
                  <a:srgbClr val="5C6D64"/>
                </a:solidFill>
                <a:latin typeface="Arial"/>
                <a:ea typeface="Arial"/>
                <a:cs typeface="Arial"/>
              </a:rPr>
              <a:t>A working local workflow using fictional evidence</a:t>
            </a:r>
          </a:p>
        </p:txBody>
      </p:sp>
      <p:sp>
        <p:nvSpPr>
          <p:cNvPr id="3" name="disclosure">
            <a:extLst xmlns:a="http://schemas.openxmlformats.org/drawingml/2006/main">
              <a:ext uri="{FF2B5EF4-FFF2-40B4-BE49-F238E27FC236}">
                <a16:creationId xmlns:a16="http://schemas.microsoft.com/office/drawing/2014/main" id="{2B007570-581F-479A-8E1B-E10F5563E77D}"/>
              </a:ext>
            </a:extLst>
          </p:cNvPr>
          <p:cNvSpPr>
            <a:spLocks xmlns:a="http://schemas.openxmlformats.org/drawingml/2006/main" noGrp="1"/>
          </p:cNvSpPr>
          <p:nvPr/>
        </p:nvSpPr>
        <p:spPr>
          <a:xfrm xmlns:a="http://schemas.openxmlformats.org/drawingml/2006/main">
            <a:off x="609600" y="64579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C6D64"/>
                </a:solidFill>
                <a:latin typeface="Arial"/>
                <a:ea typeface="Arial"/>
                <a:cs typeface="Arial"/>
              </a:defRPr>
            </a:defPPr>
          </a:lstStyle>
          <a:p xmlns:a="http://schemas.openxmlformats.org/drawingml/2006/main">
            <a:pPr>
              <a:defRPr sz="1275" b="0">
                <a:solidFill>
                  <a:srgbClr val="5C6D64"/>
                </a:solidFill>
                <a:latin typeface="Arial"/>
                <a:ea typeface="Arial"/>
                <a:cs typeface="Arial"/>
              </a:defRPr>
            </a:pPr>
            <a:r>
              <a:rPr sz="1275" b="0">
                <a:solidFill>
                  <a:srgbClr val="5C6D64"/>
                </a:solidFill>
                <a:latin typeface="Arial"/>
                <a:ea typeface="Arial"/>
                <a:cs typeface="Arial"/>
              </a:rPr>
              <a:t>Recorded screenshot walkthrough  /  Fictional engineering prototype</a:t>
            </a:r>
          </a:p>
        </p:txBody>
      </p:sp>
      <p:sp>
        <p:nvSpPr>
          <p:cNvPr id="4" name="page">
            <a:extLst xmlns:a="http://schemas.openxmlformats.org/drawingml/2006/main">
              <a:ext uri="{FF2B5EF4-FFF2-40B4-BE49-F238E27FC236}">
                <a16:creationId xmlns:a16="http://schemas.microsoft.com/office/drawing/2014/main" id="{32753200-B110-48B5-8BE4-5DDA1CE18024}"/>
              </a:ext>
            </a:extLst>
          </p:cNvPr>
          <p:cNvSpPr>
            <a:spLocks xmlns:a="http://schemas.openxmlformats.org/drawingml/2006/main" noGrp="1"/>
          </p:cNvSpPr>
          <p:nvPr/>
        </p:nvSpPr>
        <p:spPr>
          <a:xfrm xmlns:a="http://schemas.openxmlformats.org/drawingml/2006/main">
            <a:off x="11049000" y="64579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C6D64"/>
                </a:solidFill>
                <a:latin typeface="Arial"/>
                <a:ea typeface="Arial"/>
                <a:cs typeface="Arial"/>
              </a:defRPr>
            </a:defPPr>
          </a:lstStyle>
          <a:p xmlns:a="http://schemas.openxmlformats.org/drawingml/2006/main">
            <a:pPr>
              <a:defRPr sz="1275" b="0">
                <a:solidFill>
                  <a:srgbClr val="5C6D64"/>
                </a:solidFill>
                <a:latin typeface="Arial"/>
                <a:ea typeface="Arial"/>
                <a:cs typeface="Arial"/>
              </a:defRPr>
            </a:pPr>
            <a:r>
              <a:rPr sz="1275" b="0">
                <a:solidFill>
                  <a:srgbClr val="5C6D64"/>
                </a:solidFill>
                <a:latin typeface="Arial"/>
                <a:ea typeface="Arial"/>
                <a:cs typeface="Arial"/>
              </a:rPr>
              <a:t>02</a:t>
            </a:r>
          </a:p>
        </p:txBody>
      </p:sp>
      <p:sp>
        <p:nvSpPr>
          <p:cNvPr id="5" name="label-220">
            <a:extLst xmlns:a="http://schemas.openxmlformats.org/drawingml/2006/main">
              <a:ext uri="{FF2B5EF4-FFF2-40B4-BE49-F238E27FC236}">
                <a16:creationId xmlns:a16="http://schemas.microsoft.com/office/drawing/2014/main" id="{9B7EF666-DDD8-44BF-8A7D-A7BBFF4E689F}"/>
              </a:ext>
            </a:extLst>
          </p:cNvPr>
          <p:cNvSpPr>
            <a:spLocks xmlns:a="http://schemas.openxmlformats.org/drawingml/2006/main" noGrp="1"/>
          </p:cNvSpPr>
          <p:nvPr/>
        </p:nvSpPr>
        <p:spPr>
          <a:xfrm xmlns:a="http://schemas.openxmlformats.org/drawingml/2006/main">
            <a:off x="609600" y="2095500"/>
            <a:ext cx="2876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275D51"/>
                </a:solidFill>
                <a:latin typeface="Arial"/>
                <a:ea typeface="Arial"/>
                <a:cs typeface="Arial"/>
              </a:defRPr>
            </a:defPPr>
          </a:lstStyle>
          <a:p xmlns:a="http://schemas.openxmlformats.org/drawingml/2006/main">
            <a:pPr>
              <a:defRPr sz="1875" b="1">
                <a:solidFill>
                  <a:srgbClr val="275D51"/>
                </a:solidFill>
                <a:latin typeface="Arial"/>
                <a:ea typeface="Arial"/>
                <a:cs typeface="Arial"/>
              </a:defRPr>
            </a:pPr>
            <a:r>
              <a:rPr sz="1875" b="1">
                <a:solidFill>
                  <a:srgbClr val="275D51"/>
                </a:solidFill>
                <a:latin typeface="Arial"/>
                <a:ea typeface="Arial"/>
                <a:cs typeface="Arial"/>
              </a:rPr>
              <a:t>Example replay</a:t>
            </a:r>
          </a:p>
        </p:txBody>
      </p:sp>
      <p:sp>
        <p:nvSpPr>
          <p:cNvPr id="6" name="body-220">
            <a:extLst xmlns:a="http://schemas.openxmlformats.org/drawingml/2006/main">
              <a:ext uri="{FF2B5EF4-FFF2-40B4-BE49-F238E27FC236}">
                <a16:creationId xmlns:a16="http://schemas.microsoft.com/office/drawing/2014/main" id="{B1FBA005-BA86-4DCF-9646-9ACAE1B5B29F}"/>
              </a:ext>
            </a:extLst>
          </p:cNvPr>
          <p:cNvSpPr>
            <a:spLocks xmlns:a="http://schemas.openxmlformats.org/drawingml/2006/main" noGrp="1"/>
          </p:cNvSpPr>
          <p:nvPr/>
        </p:nvSpPr>
        <p:spPr>
          <a:xfrm xmlns:a="http://schemas.openxmlformats.org/drawingml/2006/main">
            <a:off x="609600" y="2524125"/>
            <a:ext cx="28765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43B33"/>
                </a:solidFill>
                <a:latin typeface="Arial"/>
                <a:ea typeface="Arial"/>
                <a:cs typeface="Arial"/>
              </a:defRPr>
            </a:defPPr>
          </a:lstStyle>
          <a:p xmlns:a="http://schemas.openxmlformats.org/drawingml/2006/main">
            <a:pPr>
              <a:defRPr sz="1800" b="0">
                <a:solidFill>
                  <a:srgbClr val="243B33"/>
                </a:solidFill>
                <a:latin typeface="Arial"/>
                <a:ea typeface="Arial"/>
                <a:cs typeface="Arial"/>
              </a:defRPr>
            </a:pPr>
            <a:r>
              <a:rPr sz="1800" b="0">
                <a:solidFill>
                  <a:srgbClr val="243B33"/>
                </a:solidFill>
                <a:latin typeface="Arial"/>
                <a:ea typeface="Arial"/>
                <a:cs typeface="Arial"/>
              </a:rPr>
              <a:t>The app labels its demonstration mode on screen.</a:t>
            </a:r>
          </a:p>
        </p:txBody>
      </p:sp>
      <p:sp>
        <p:nvSpPr>
          <p:cNvPr id="7" name="label-394">
            <a:extLst xmlns:a="http://schemas.openxmlformats.org/drawingml/2006/main">
              <a:ext uri="{FF2B5EF4-FFF2-40B4-BE49-F238E27FC236}">
                <a16:creationId xmlns:a16="http://schemas.microsoft.com/office/drawing/2014/main" id="{ABE7683A-3B84-4D99-AB68-BB4047C7415B}"/>
              </a:ext>
            </a:extLst>
          </p:cNvPr>
          <p:cNvSpPr>
            <a:spLocks xmlns:a="http://schemas.openxmlformats.org/drawingml/2006/main" noGrp="1"/>
          </p:cNvSpPr>
          <p:nvPr/>
        </p:nvSpPr>
        <p:spPr>
          <a:xfrm xmlns:a="http://schemas.openxmlformats.org/drawingml/2006/main">
            <a:off x="609600" y="3752850"/>
            <a:ext cx="2876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275D51"/>
                </a:solidFill>
                <a:latin typeface="Arial"/>
                <a:ea typeface="Arial"/>
                <a:cs typeface="Arial"/>
              </a:defRPr>
            </a:defPPr>
          </a:lstStyle>
          <a:p xmlns:a="http://schemas.openxmlformats.org/drawingml/2006/main">
            <a:pPr>
              <a:defRPr sz="1875" b="1">
                <a:solidFill>
                  <a:srgbClr val="275D51"/>
                </a:solidFill>
                <a:latin typeface="Arial"/>
                <a:ea typeface="Arial"/>
                <a:cs typeface="Arial"/>
              </a:defRPr>
            </a:pPr>
            <a:r>
              <a:rPr sz="1875" b="1">
                <a:solidFill>
                  <a:srgbClr val="275D51"/>
                </a:solidFill>
                <a:latin typeface="Arial"/>
                <a:ea typeface="Arial"/>
                <a:cs typeface="Arial"/>
              </a:rPr>
              <a:t>Clinical review pending</a:t>
            </a:r>
          </a:p>
        </p:txBody>
      </p:sp>
      <p:sp>
        <p:nvSpPr>
          <p:cNvPr id="8" name="body-394">
            <a:extLst xmlns:a="http://schemas.openxmlformats.org/drawingml/2006/main">
              <a:ext uri="{FF2B5EF4-FFF2-40B4-BE49-F238E27FC236}">
                <a16:creationId xmlns:a16="http://schemas.microsoft.com/office/drawing/2014/main" id="{F11CCF9F-CA1B-4365-9A4B-7BC06DDB2B84}"/>
              </a:ext>
            </a:extLst>
          </p:cNvPr>
          <p:cNvSpPr>
            <a:spLocks xmlns:a="http://schemas.openxmlformats.org/drawingml/2006/main" noGrp="1"/>
          </p:cNvSpPr>
          <p:nvPr/>
        </p:nvSpPr>
        <p:spPr>
          <a:xfrm xmlns:a="http://schemas.openxmlformats.org/drawingml/2006/main">
            <a:off x="609600" y="4181475"/>
            <a:ext cx="28765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43B33"/>
                </a:solidFill>
                <a:latin typeface="Arial"/>
                <a:ea typeface="Arial"/>
                <a:cs typeface="Arial"/>
              </a:defRPr>
            </a:defPPr>
          </a:lstStyle>
          <a:p xmlns:a="http://schemas.openxmlformats.org/drawingml/2006/main">
            <a:pPr>
              <a:defRPr sz="1800" b="0">
                <a:solidFill>
                  <a:srgbClr val="243B33"/>
                </a:solidFill>
                <a:latin typeface="Arial"/>
                <a:ea typeface="Arial"/>
                <a:cs typeface="Arial"/>
              </a:defRPr>
            </a:pPr>
            <a:r>
              <a:rPr sz="1800" b="0">
                <a:solidFill>
                  <a:srgbClr val="243B33"/>
                </a:solidFill>
                <a:latin typeface="Arial"/>
                <a:ea typeface="Arial"/>
                <a:cs typeface="Arial"/>
              </a:rPr>
              <a:t>The installed library contains fictional, nonclinical examples.</a:t>
            </a:r>
          </a:p>
        </p:txBody>
      </p:sp>
      <p:pic>
        <p:nvPicPr>
          <p:cNvPr id="9" name="">
            <a:extLst xmlns:a="http://schemas.openxmlformats.org/drawingml/2006/main">
              <a:ext uri="{FF2B5EF4-FFF2-40B4-BE49-F238E27FC236}">
                <a16:creationId xmlns:a16="http://schemas.microsoft.com/office/drawing/2014/main" id="{C006C91B-E211-4050-BFAD-6AFCE19A1C58}"/>
              </a:ext>
            </a:extLst>
          </p:cNvPr>
          <p:cNvPicPr>
            <a:picLocks xmlns:a="http://schemas.openxmlformats.org/drawingml/2006/main" noChangeAspect="1"/>
          </p:cNvPicPr>
          <p:nvPr/>
        </p:nvPicPr>
        <p:blipFill>
          <a:blip xmlns:r="http://schemas.openxmlformats.org/officeDocument/2006/relationships" xmlns:a="http://schemas.openxmlformats.org/drawingml/2006/main" r:embed="Rb29bbed172b6403a"/>
          <a:stretch xmlns:a="http://schemas.openxmlformats.org/drawingml/2006/main"/>
        </p:blipFill>
        <p:spPr>
          <a:xfrm xmlns:a="http://schemas.openxmlformats.org/drawingml/2006/main">
            <a:off x="3781425" y="1976392"/>
            <a:ext cx="7800975" cy="4057740"/>
          </a:xfrm>
          <a:prstGeom xmlns:a="http://schemas.openxmlformats.org/drawingml/2006/main" prst="rect">
            <a:avLst/>
          </a:prstGeom>
        </p:spPr>
      </p:pic>
    </p:spTree>
    <p:extLst>
      <p:ext uri="{BB962C8B-B14F-4D97-AF65-F5344CB8AC3E}">
        <p14:creationId xmlns:p14="http://schemas.microsoft.com/office/powerpoint/2010/main" val="955597162"/>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0AF15616-FF8C-47F4-9A28-CCFD4FBF9CC9}"/>
              </a:ext>
            </a:extLst>
          </p:cNvPr>
          <p:cNvSpPr>
            <a:spLocks xmlns:a="http://schemas.openxmlformats.org/drawingml/2006/main" noGrp="1"/>
          </p:cNvSpPr>
          <p:nvPr/>
        </p:nvSpPr>
        <p:spPr>
          <a:xfrm xmlns:a="http://schemas.openxmlformats.org/drawingml/2006/main">
            <a:off x="609600" y="4572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0">
                <a:solidFill>
                  <a:srgbClr val="243B33"/>
                </a:solidFill>
                <a:latin typeface="Georgia"/>
                <a:ea typeface="Georgia"/>
                <a:cs typeface="Georgia"/>
              </a:defRPr>
            </a:defPPr>
          </a:lstStyle>
          <a:p xmlns:a="http://schemas.openxmlformats.org/drawingml/2006/main">
            <a:pPr>
              <a:defRPr sz="3900" b="0">
                <a:solidFill>
                  <a:srgbClr val="243B33"/>
                </a:solidFill>
                <a:latin typeface="Georgia"/>
                <a:ea typeface="Georgia"/>
                <a:cs typeface="Georgia"/>
              </a:defRPr>
            </a:pPr>
            <a:r>
              <a:rPr sz="3900" b="0">
                <a:solidFill>
                  <a:srgbClr val="243B33"/>
                </a:solidFill>
                <a:latin typeface="Georgia"/>
                <a:ea typeface="Georgia"/>
                <a:cs typeface="Georgia"/>
              </a:rPr>
              <a:t>Confirmation of meaning</a:t>
            </a:r>
          </a:p>
        </p:txBody>
      </p:sp>
      <p:sp>
        <p:nvSpPr>
          <p:cNvPr id="2" name="subtitle">
            <a:extLst xmlns:a="http://schemas.openxmlformats.org/drawingml/2006/main">
              <a:ext uri="{FF2B5EF4-FFF2-40B4-BE49-F238E27FC236}">
                <a16:creationId xmlns:a16="http://schemas.microsoft.com/office/drawing/2014/main" id="{B9672008-820F-41E4-8778-D44AB4A9AAC2}"/>
              </a:ext>
            </a:extLst>
          </p:cNvPr>
          <p:cNvSpPr>
            <a:spLocks xmlns:a="http://schemas.openxmlformats.org/drawingml/2006/main" noGrp="1"/>
          </p:cNvSpPr>
          <p:nvPr/>
        </p:nvSpPr>
        <p:spPr>
          <a:xfrm xmlns:a="http://schemas.openxmlformats.org/drawingml/2006/main">
            <a:off x="628650" y="1333500"/>
            <a:ext cx="10934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C6D64"/>
                </a:solidFill>
                <a:latin typeface="Arial"/>
                <a:ea typeface="Arial"/>
                <a:cs typeface="Arial"/>
              </a:defRPr>
            </a:defPPr>
          </a:lstStyle>
          <a:p xmlns:a="http://schemas.openxmlformats.org/drawingml/2006/main">
            <a:pPr>
              <a:defRPr sz="1800" b="0">
                <a:solidFill>
                  <a:srgbClr val="5C6D64"/>
                </a:solidFill>
                <a:latin typeface="Arial"/>
                <a:ea typeface="Arial"/>
                <a:cs typeface="Arial"/>
              </a:defRPr>
            </a:pPr>
            <a:r>
              <a:rPr sz="1800" b="0">
                <a:solidFill>
                  <a:srgbClr val="5C6D64"/>
                </a:solidFill>
                <a:latin typeface="Arial"/>
                <a:ea typeface="Arial"/>
                <a:cs typeface="Arial"/>
              </a:rPr>
              <a:t>The claim and the user’s intention stay separate</a:t>
            </a:r>
          </a:p>
        </p:txBody>
      </p:sp>
      <p:sp>
        <p:nvSpPr>
          <p:cNvPr id="3" name="disclosure">
            <a:extLst xmlns:a="http://schemas.openxmlformats.org/drawingml/2006/main">
              <a:ext uri="{FF2B5EF4-FFF2-40B4-BE49-F238E27FC236}">
                <a16:creationId xmlns:a16="http://schemas.microsoft.com/office/drawing/2014/main" id="{A4AE6799-7263-49ED-AC2F-FCBA564A16DF}"/>
              </a:ext>
            </a:extLst>
          </p:cNvPr>
          <p:cNvSpPr>
            <a:spLocks xmlns:a="http://schemas.openxmlformats.org/drawingml/2006/main" noGrp="1"/>
          </p:cNvSpPr>
          <p:nvPr/>
        </p:nvSpPr>
        <p:spPr>
          <a:xfrm xmlns:a="http://schemas.openxmlformats.org/drawingml/2006/main">
            <a:off x="609600" y="64579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C6D64"/>
                </a:solidFill>
                <a:latin typeface="Arial"/>
                <a:ea typeface="Arial"/>
                <a:cs typeface="Arial"/>
              </a:defRPr>
            </a:defPPr>
          </a:lstStyle>
          <a:p xmlns:a="http://schemas.openxmlformats.org/drawingml/2006/main">
            <a:pPr>
              <a:defRPr sz="1275" b="0">
                <a:solidFill>
                  <a:srgbClr val="5C6D64"/>
                </a:solidFill>
                <a:latin typeface="Arial"/>
                <a:ea typeface="Arial"/>
                <a:cs typeface="Arial"/>
              </a:defRPr>
            </a:pPr>
            <a:r>
              <a:rPr sz="1275" b="0">
                <a:solidFill>
                  <a:srgbClr val="5C6D64"/>
                </a:solidFill>
                <a:latin typeface="Arial"/>
                <a:ea typeface="Arial"/>
                <a:cs typeface="Arial"/>
              </a:rPr>
              <a:t>Recorded screenshot walkthrough  /  Fictional engineering prototype</a:t>
            </a:r>
          </a:p>
        </p:txBody>
      </p:sp>
      <p:sp>
        <p:nvSpPr>
          <p:cNvPr id="4" name="page">
            <a:extLst xmlns:a="http://schemas.openxmlformats.org/drawingml/2006/main">
              <a:ext uri="{FF2B5EF4-FFF2-40B4-BE49-F238E27FC236}">
                <a16:creationId xmlns:a16="http://schemas.microsoft.com/office/drawing/2014/main" id="{EC02BD0F-2DA6-4F01-860D-C0DC91875160}"/>
              </a:ext>
            </a:extLst>
          </p:cNvPr>
          <p:cNvSpPr>
            <a:spLocks xmlns:a="http://schemas.openxmlformats.org/drawingml/2006/main" noGrp="1"/>
          </p:cNvSpPr>
          <p:nvPr/>
        </p:nvSpPr>
        <p:spPr>
          <a:xfrm xmlns:a="http://schemas.openxmlformats.org/drawingml/2006/main">
            <a:off x="11049000" y="64579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C6D64"/>
                </a:solidFill>
                <a:latin typeface="Arial"/>
                <a:ea typeface="Arial"/>
                <a:cs typeface="Arial"/>
              </a:defRPr>
            </a:defPPr>
          </a:lstStyle>
          <a:p xmlns:a="http://schemas.openxmlformats.org/drawingml/2006/main">
            <a:pPr>
              <a:defRPr sz="1275" b="0">
                <a:solidFill>
                  <a:srgbClr val="5C6D64"/>
                </a:solidFill>
                <a:latin typeface="Arial"/>
                <a:ea typeface="Arial"/>
                <a:cs typeface="Arial"/>
              </a:defRPr>
            </a:pPr>
            <a:r>
              <a:rPr sz="1275" b="0">
                <a:solidFill>
                  <a:srgbClr val="5C6D64"/>
                </a:solidFill>
                <a:latin typeface="Arial"/>
                <a:ea typeface="Arial"/>
                <a:cs typeface="Arial"/>
              </a:rPr>
              <a:t>03</a:t>
            </a:r>
          </a:p>
        </p:txBody>
      </p:sp>
      <p:sp>
        <p:nvSpPr>
          <p:cNvPr id="5" name="label-220">
            <a:extLst xmlns:a="http://schemas.openxmlformats.org/drawingml/2006/main">
              <a:ext uri="{FF2B5EF4-FFF2-40B4-BE49-F238E27FC236}">
                <a16:creationId xmlns:a16="http://schemas.microsoft.com/office/drawing/2014/main" id="{18B07753-503F-4831-A504-FA0A3AB20FCA}"/>
              </a:ext>
            </a:extLst>
          </p:cNvPr>
          <p:cNvSpPr>
            <a:spLocks xmlns:a="http://schemas.openxmlformats.org/drawingml/2006/main" noGrp="1"/>
          </p:cNvSpPr>
          <p:nvPr/>
        </p:nvSpPr>
        <p:spPr>
          <a:xfrm xmlns:a="http://schemas.openxmlformats.org/drawingml/2006/main">
            <a:off x="609600" y="2095500"/>
            <a:ext cx="2876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275D51"/>
                </a:solidFill>
                <a:latin typeface="Arial"/>
                <a:ea typeface="Arial"/>
                <a:cs typeface="Arial"/>
              </a:defRPr>
            </a:defPPr>
          </a:lstStyle>
          <a:p xmlns:a="http://schemas.openxmlformats.org/drawingml/2006/main">
            <a:pPr>
              <a:defRPr sz="1875" b="1">
                <a:solidFill>
                  <a:srgbClr val="275D51"/>
                </a:solidFill>
                <a:latin typeface="Arial"/>
                <a:ea typeface="Arial"/>
                <a:cs typeface="Arial"/>
              </a:defRPr>
            </a:pPr>
            <a:r>
              <a:rPr sz="1875" b="1">
                <a:solidFill>
                  <a:srgbClr val="275D51"/>
                </a:solidFill>
                <a:latin typeface="Arial"/>
                <a:ea typeface="Arial"/>
                <a:cs typeface="Arial"/>
              </a:rPr>
              <a:t>Explicit confirmation</a:t>
            </a:r>
          </a:p>
        </p:txBody>
      </p:sp>
      <p:sp>
        <p:nvSpPr>
          <p:cNvPr id="6" name="body-220">
            <a:extLst xmlns:a="http://schemas.openxmlformats.org/drawingml/2006/main">
              <a:ext uri="{FF2B5EF4-FFF2-40B4-BE49-F238E27FC236}">
                <a16:creationId xmlns:a16="http://schemas.microsoft.com/office/drawing/2014/main" id="{A88489FA-447E-448E-8FC6-D605758076FF}"/>
              </a:ext>
            </a:extLst>
          </p:cNvPr>
          <p:cNvSpPr>
            <a:spLocks xmlns:a="http://schemas.openxmlformats.org/drawingml/2006/main" noGrp="1"/>
          </p:cNvSpPr>
          <p:nvPr/>
        </p:nvSpPr>
        <p:spPr>
          <a:xfrm xmlns:a="http://schemas.openxmlformats.org/drawingml/2006/main">
            <a:off x="609600" y="2524125"/>
            <a:ext cx="28765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43B33"/>
                </a:solidFill>
                <a:latin typeface="Arial"/>
                <a:ea typeface="Arial"/>
                <a:cs typeface="Arial"/>
              </a:defRPr>
            </a:defPPr>
          </a:lstStyle>
          <a:p xmlns:a="http://schemas.openxmlformats.org/drawingml/2006/main">
            <a:pPr>
              <a:defRPr sz="1800" b="0">
                <a:solidFill>
                  <a:srgbClr val="243B33"/>
                </a:solidFill>
                <a:latin typeface="Arial"/>
                <a:ea typeface="Arial"/>
                <a:cs typeface="Arial"/>
              </a:defRPr>
            </a:pPr>
            <a:r>
              <a:rPr sz="1800" b="0">
                <a:solidFill>
                  <a:srgbClr val="243B33"/>
                </a:solidFill>
                <a:latin typeface="Arial"/>
                <a:ea typeface="Arial"/>
                <a:cs typeface="Arial"/>
              </a:rPr>
              <a:t>The user checks the interpretation before assessment.</a:t>
            </a:r>
          </a:p>
        </p:txBody>
      </p:sp>
      <p:sp>
        <p:nvSpPr>
          <p:cNvPr id="7" name="label-394">
            <a:extLst xmlns:a="http://schemas.openxmlformats.org/drawingml/2006/main">
              <a:ext uri="{FF2B5EF4-FFF2-40B4-BE49-F238E27FC236}">
                <a16:creationId xmlns:a16="http://schemas.microsoft.com/office/drawing/2014/main" id="{C7DDCCA2-C3CE-49BC-8C3E-09D36EEBFC77}"/>
              </a:ext>
            </a:extLst>
          </p:cNvPr>
          <p:cNvSpPr>
            <a:spLocks xmlns:a="http://schemas.openxmlformats.org/drawingml/2006/main" noGrp="1"/>
          </p:cNvSpPr>
          <p:nvPr/>
        </p:nvSpPr>
        <p:spPr>
          <a:xfrm xmlns:a="http://schemas.openxmlformats.org/drawingml/2006/main">
            <a:off x="609600" y="3752850"/>
            <a:ext cx="2876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275D51"/>
                </a:solidFill>
                <a:latin typeface="Arial"/>
                <a:ea typeface="Arial"/>
                <a:cs typeface="Arial"/>
              </a:defRPr>
            </a:defPPr>
          </a:lstStyle>
          <a:p xmlns:a="http://schemas.openxmlformats.org/drawingml/2006/main">
            <a:pPr>
              <a:defRPr sz="1875" b="1">
                <a:solidFill>
                  <a:srgbClr val="275D51"/>
                </a:solidFill>
                <a:latin typeface="Arial"/>
                <a:ea typeface="Arial"/>
                <a:cs typeface="Arial"/>
              </a:defRPr>
            </a:pPr>
            <a:r>
              <a:rPr sz="1875" b="1">
                <a:solidFill>
                  <a:srgbClr val="275D51"/>
                </a:solidFill>
                <a:latin typeface="Arial"/>
                <a:ea typeface="Arial"/>
                <a:cs typeface="Arial"/>
              </a:rPr>
              <a:t>Unknown stays unknown</a:t>
            </a:r>
          </a:p>
        </p:txBody>
      </p:sp>
      <p:sp>
        <p:nvSpPr>
          <p:cNvPr id="8" name="body-394">
            <a:extLst xmlns:a="http://schemas.openxmlformats.org/drawingml/2006/main">
              <a:ext uri="{FF2B5EF4-FFF2-40B4-BE49-F238E27FC236}">
                <a16:creationId xmlns:a16="http://schemas.microsoft.com/office/drawing/2014/main" id="{D1414CB0-2FFA-4F0B-AA51-EE41A5095EE0}"/>
              </a:ext>
            </a:extLst>
          </p:cNvPr>
          <p:cNvSpPr>
            <a:spLocks xmlns:a="http://schemas.openxmlformats.org/drawingml/2006/main" noGrp="1"/>
          </p:cNvSpPr>
          <p:nvPr/>
        </p:nvSpPr>
        <p:spPr>
          <a:xfrm xmlns:a="http://schemas.openxmlformats.org/drawingml/2006/main">
            <a:off x="609600" y="4181475"/>
            <a:ext cx="28765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43B33"/>
                </a:solidFill>
                <a:latin typeface="Arial"/>
                <a:ea typeface="Arial"/>
                <a:cs typeface="Arial"/>
              </a:defRPr>
            </a:defPPr>
          </a:lstStyle>
          <a:p xmlns:a="http://schemas.openxmlformats.org/drawingml/2006/main">
            <a:pPr>
              <a:defRPr sz="1800" b="0">
                <a:solidFill>
                  <a:srgbClr val="243B33"/>
                </a:solidFill>
                <a:latin typeface="Arial"/>
                <a:ea typeface="Arial"/>
                <a:cs typeface="Arial"/>
              </a:defRPr>
            </a:pPr>
            <a:r>
              <a:rPr sz="1800" b="0">
                <a:solidFill>
                  <a:srgbClr val="243B33"/>
                </a:solidFill>
                <a:latin typeface="Arial"/>
                <a:ea typeface="Arial"/>
                <a:cs typeface="Arial"/>
              </a:rPr>
              <a:t>Missing context does not become an invented fact.</a:t>
            </a:r>
          </a:p>
        </p:txBody>
      </p:sp>
      <p:pic>
        <p:nvPicPr>
          <p:cNvPr id="9" name="">
            <a:extLst xmlns:a="http://schemas.openxmlformats.org/drawingml/2006/main">
              <a:ext uri="{FF2B5EF4-FFF2-40B4-BE49-F238E27FC236}">
                <a16:creationId xmlns:a16="http://schemas.microsoft.com/office/drawing/2014/main" id="{E1B1B94C-B7B4-4215-A2ED-659AF57F0AAB}"/>
              </a:ext>
            </a:extLst>
          </p:cNvPr>
          <p:cNvPicPr>
            <a:picLocks xmlns:a="http://schemas.openxmlformats.org/drawingml/2006/main" noChangeAspect="1"/>
          </p:cNvPicPr>
          <p:nvPr/>
        </p:nvPicPr>
        <p:blipFill>
          <a:blip xmlns:r="http://schemas.openxmlformats.org/officeDocument/2006/relationships" xmlns:a="http://schemas.openxmlformats.org/drawingml/2006/main" r:embed="Raf970fd9f7e54733"/>
          <a:stretch xmlns:a="http://schemas.openxmlformats.org/drawingml/2006/main"/>
        </p:blipFill>
        <p:spPr>
          <a:xfrm xmlns:a="http://schemas.openxmlformats.org/drawingml/2006/main">
            <a:off x="3781425" y="1972490"/>
            <a:ext cx="7800975" cy="4056019"/>
          </a:xfrm>
          <a:prstGeom xmlns:a="http://schemas.openxmlformats.org/drawingml/2006/main" prst="rect">
            <a:avLst/>
          </a:prstGeom>
        </p:spPr>
      </p:pic>
    </p:spTree>
    <p:extLst>
      <p:ext uri="{BB962C8B-B14F-4D97-AF65-F5344CB8AC3E}">
        <p14:creationId xmlns:p14="http://schemas.microsoft.com/office/powerpoint/2010/main" val="1238458479"/>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D647CEC9-95E4-4EA3-A293-CE445B83AC40}"/>
              </a:ext>
            </a:extLst>
          </p:cNvPr>
          <p:cNvSpPr>
            <a:spLocks xmlns:a="http://schemas.openxmlformats.org/drawingml/2006/main" noGrp="1"/>
          </p:cNvSpPr>
          <p:nvPr/>
        </p:nvSpPr>
        <p:spPr>
          <a:xfrm xmlns:a="http://schemas.openxmlformats.org/drawingml/2006/main">
            <a:off x="609600" y="4572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0">
                <a:solidFill>
                  <a:srgbClr val="243B33"/>
                </a:solidFill>
                <a:latin typeface="Georgia"/>
                <a:ea typeface="Georgia"/>
                <a:cs typeface="Georgia"/>
              </a:defRPr>
            </a:defPPr>
          </a:lstStyle>
          <a:p xmlns:a="http://schemas.openxmlformats.org/drawingml/2006/main">
            <a:pPr>
              <a:defRPr sz="3900" b="0">
                <a:solidFill>
                  <a:srgbClr val="243B33"/>
                </a:solidFill>
                <a:latin typeface="Georgia"/>
                <a:ea typeface="Georgia"/>
                <a:cs typeface="Georgia"/>
              </a:defRPr>
            </a:pPr>
            <a:r>
              <a:rPr sz="3900" b="0">
                <a:solidFill>
                  <a:srgbClr val="243B33"/>
                </a:solidFill>
                <a:latin typeface="Georgia"/>
                <a:ea typeface="Georgia"/>
                <a:cs typeface="Georgia"/>
              </a:rPr>
              <a:t>A source with visible limits</a:t>
            </a:r>
          </a:p>
        </p:txBody>
      </p:sp>
      <p:sp>
        <p:nvSpPr>
          <p:cNvPr id="2" name="subtitle">
            <a:extLst xmlns:a="http://schemas.openxmlformats.org/drawingml/2006/main">
              <a:ext uri="{FF2B5EF4-FFF2-40B4-BE49-F238E27FC236}">
                <a16:creationId xmlns:a16="http://schemas.microsoft.com/office/drawing/2014/main" id="{AB49529B-4751-4E43-BFA2-BD297639F894}"/>
              </a:ext>
            </a:extLst>
          </p:cNvPr>
          <p:cNvSpPr>
            <a:spLocks xmlns:a="http://schemas.openxmlformats.org/drawingml/2006/main" noGrp="1"/>
          </p:cNvSpPr>
          <p:nvPr/>
        </p:nvSpPr>
        <p:spPr>
          <a:xfrm xmlns:a="http://schemas.openxmlformats.org/drawingml/2006/main">
            <a:off x="628650" y="1333500"/>
            <a:ext cx="10934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C6D64"/>
                </a:solidFill>
                <a:latin typeface="Arial"/>
                <a:ea typeface="Arial"/>
                <a:cs typeface="Arial"/>
              </a:defRPr>
            </a:defPPr>
          </a:lstStyle>
          <a:p xmlns:a="http://schemas.openxmlformats.org/drawingml/2006/main">
            <a:pPr>
              <a:defRPr sz="1800" b="0">
                <a:solidFill>
                  <a:srgbClr val="5C6D64"/>
                </a:solidFill>
                <a:latin typeface="Arial"/>
                <a:ea typeface="Arial"/>
                <a:cs typeface="Arial"/>
              </a:defRPr>
            </a:pPr>
            <a:r>
              <a:rPr sz="1800" b="0">
                <a:solidFill>
                  <a:srgbClr val="5C6D64"/>
                </a:solidFill>
                <a:latin typeface="Arial"/>
                <a:ea typeface="Arial"/>
                <a:cs typeface="Arial"/>
              </a:rPr>
              <a:t>The receipt preserves the passage and its scope</a:t>
            </a:r>
          </a:p>
        </p:txBody>
      </p:sp>
      <p:sp>
        <p:nvSpPr>
          <p:cNvPr id="3" name="disclosure">
            <a:extLst xmlns:a="http://schemas.openxmlformats.org/drawingml/2006/main">
              <a:ext uri="{FF2B5EF4-FFF2-40B4-BE49-F238E27FC236}">
                <a16:creationId xmlns:a16="http://schemas.microsoft.com/office/drawing/2014/main" id="{D8A139A1-9761-4DE1-BB7E-5D0F9894D40A}"/>
              </a:ext>
            </a:extLst>
          </p:cNvPr>
          <p:cNvSpPr>
            <a:spLocks xmlns:a="http://schemas.openxmlformats.org/drawingml/2006/main" noGrp="1"/>
          </p:cNvSpPr>
          <p:nvPr/>
        </p:nvSpPr>
        <p:spPr>
          <a:xfrm xmlns:a="http://schemas.openxmlformats.org/drawingml/2006/main">
            <a:off x="609600" y="64579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C6D64"/>
                </a:solidFill>
                <a:latin typeface="Arial"/>
                <a:ea typeface="Arial"/>
                <a:cs typeface="Arial"/>
              </a:defRPr>
            </a:defPPr>
          </a:lstStyle>
          <a:p xmlns:a="http://schemas.openxmlformats.org/drawingml/2006/main">
            <a:pPr>
              <a:defRPr sz="1275" b="0">
                <a:solidFill>
                  <a:srgbClr val="5C6D64"/>
                </a:solidFill>
                <a:latin typeface="Arial"/>
                <a:ea typeface="Arial"/>
                <a:cs typeface="Arial"/>
              </a:defRPr>
            </a:pPr>
            <a:r>
              <a:rPr sz="1275" b="0">
                <a:solidFill>
                  <a:srgbClr val="5C6D64"/>
                </a:solidFill>
                <a:latin typeface="Arial"/>
                <a:ea typeface="Arial"/>
                <a:cs typeface="Arial"/>
              </a:rPr>
              <a:t>Recorded screenshot walkthrough  /  Fictional engineering prototype</a:t>
            </a:r>
          </a:p>
        </p:txBody>
      </p:sp>
      <p:sp>
        <p:nvSpPr>
          <p:cNvPr id="4" name="page">
            <a:extLst xmlns:a="http://schemas.openxmlformats.org/drawingml/2006/main">
              <a:ext uri="{FF2B5EF4-FFF2-40B4-BE49-F238E27FC236}">
                <a16:creationId xmlns:a16="http://schemas.microsoft.com/office/drawing/2014/main" id="{A596D3C2-9011-45A5-9A6B-5221C4AE400B}"/>
              </a:ext>
            </a:extLst>
          </p:cNvPr>
          <p:cNvSpPr>
            <a:spLocks xmlns:a="http://schemas.openxmlformats.org/drawingml/2006/main" noGrp="1"/>
          </p:cNvSpPr>
          <p:nvPr/>
        </p:nvSpPr>
        <p:spPr>
          <a:xfrm xmlns:a="http://schemas.openxmlformats.org/drawingml/2006/main">
            <a:off x="11049000" y="64579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C6D64"/>
                </a:solidFill>
                <a:latin typeface="Arial"/>
                <a:ea typeface="Arial"/>
                <a:cs typeface="Arial"/>
              </a:defRPr>
            </a:defPPr>
          </a:lstStyle>
          <a:p xmlns:a="http://schemas.openxmlformats.org/drawingml/2006/main">
            <a:pPr>
              <a:defRPr sz="1275" b="0">
                <a:solidFill>
                  <a:srgbClr val="5C6D64"/>
                </a:solidFill>
                <a:latin typeface="Arial"/>
                <a:ea typeface="Arial"/>
                <a:cs typeface="Arial"/>
              </a:defRPr>
            </a:pPr>
            <a:r>
              <a:rPr sz="1275" b="0">
                <a:solidFill>
                  <a:srgbClr val="5C6D64"/>
                </a:solidFill>
                <a:latin typeface="Arial"/>
                <a:ea typeface="Arial"/>
                <a:cs typeface="Arial"/>
              </a:rPr>
              <a:t>04</a:t>
            </a:r>
          </a:p>
        </p:txBody>
      </p:sp>
      <p:sp>
        <p:nvSpPr>
          <p:cNvPr id="5" name="label-216">
            <a:extLst xmlns:a="http://schemas.openxmlformats.org/drawingml/2006/main">
              <a:ext uri="{FF2B5EF4-FFF2-40B4-BE49-F238E27FC236}">
                <a16:creationId xmlns:a16="http://schemas.microsoft.com/office/drawing/2014/main" id="{18640DBD-AEAA-4915-95C3-F387DE4D0752}"/>
              </a:ext>
            </a:extLst>
          </p:cNvPr>
          <p:cNvSpPr>
            <a:spLocks xmlns:a="http://schemas.openxmlformats.org/drawingml/2006/main" noGrp="1"/>
          </p:cNvSpPr>
          <p:nvPr/>
        </p:nvSpPr>
        <p:spPr>
          <a:xfrm xmlns:a="http://schemas.openxmlformats.org/drawingml/2006/main">
            <a:off x="609600" y="2057400"/>
            <a:ext cx="2876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275D51"/>
                </a:solidFill>
                <a:latin typeface="Arial"/>
                <a:ea typeface="Arial"/>
                <a:cs typeface="Arial"/>
              </a:defRPr>
            </a:defPPr>
          </a:lstStyle>
          <a:p xmlns:a="http://schemas.openxmlformats.org/drawingml/2006/main">
            <a:pPr>
              <a:defRPr sz="1875" b="1">
                <a:solidFill>
                  <a:srgbClr val="275D51"/>
                </a:solidFill>
                <a:latin typeface="Arial"/>
                <a:ea typeface="Arial"/>
                <a:cs typeface="Arial"/>
              </a:defRPr>
            </a:pPr>
            <a:r>
              <a:rPr sz="1875" b="1">
                <a:solidFill>
                  <a:srgbClr val="275D51"/>
                </a:solidFill>
                <a:latin typeface="Arial"/>
                <a:ea typeface="Arial"/>
                <a:cs typeface="Arial"/>
              </a:rPr>
              <a:t>A bounded finding</a:t>
            </a:r>
          </a:p>
        </p:txBody>
      </p:sp>
      <p:sp>
        <p:nvSpPr>
          <p:cNvPr id="6" name="body-216">
            <a:extLst xmlns:a="http://schemas.openxmlformats.org/drawingml/2006/main">
              <a:ext uri="{FF2B5EF4-FFF2-40B4-BE49-F238E27FC236}">
                <a16:creationId xmlns:a16="http://schemas.microsoft.com/office/drawing/2014/main" id="{6007A129-1215-432B-9D8C-AD9A0EAFA38C}"/>
              </a:ext>
            </a:extLst>
          </p:cNvPr>
          <p:cNvSpPr>
            <a:spLocks xmlns:a="http://schemas.openxmlformats.org/drawingml/2006/main" noGrp="1"/>
          </p:cNvSpPr>
          <p:nvPr/>
        </p:nvSpPr>
        <p:spPr>
          <a:xfrm xmlns:a="http://schemas.openxmlformats.org/drawingml/2006/main">
            <a:off x="609600" y="2486025"/>
            <a:ext cx="28765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43B33"/>
                </a:solidFill>
                <a:latin typeface="Arial"/>
                <a:ea typeface="Arial"/>
                <a:cs typeface="Arial"/>
              </a:defRPr>
            </a:defPPr>
          </a:lstStyle>
          <a:p xmlns:a="http://schemas.openxmlformats.org/drawingml/2006/main">
            <a:pPr>
              <a:defRPr sz="1800" b="0">
                <a:solidFill>
                  <a:srgbClr val="243B33"/>
                </a:solidFill>
                <a:latin typeface="Arial"/>
                <a:ea typeface="Arial"/>
                <a:cs typeface="Arial"/>
              </a:defRPr>
            </a:pPr>
            <a:r>
              <a:rPr sz="1800" b="0">
                <a:solidFill>
                  <a:srgbClr val="243B33"/>
                </a:solidFill>
                <a:latin typeface="Arial"/>
                <a:ea typeface="Arial"/>
                <a:cs typeface="Arial"/>
              </a:rPr>
              <a:t>A measured outcome does not establish a universal guarantee.</a:t>
            </a:r>
          </a:p>
        </p:txBody>
      </p:sp>
      <p:sp>
        <p:nvSpPr>
          <p:cNvPr id="7" name="label-390">
            <a:extLst xmlns:a="http://schemas.openxmlformats.org/drawingml/2006/main">
              <a:ext uri="{FF2B5EF4-FFF2-40B4-BE49-F238E27FC236}">
                <a16:creationId xmlns:a16="http://schemas.microsoft.com/office/drawing/2014/main" id="{DC8A7BE3-0AE1-453B-B301-13A57691B9C8}"/>
              </a:ext>
            </a:extLst>
          </p:cNvPr>
          <p:cNvSpPr>
            <a:spLocks xmlns:a="http://schemas.openxmlformats.org/drawingml/2006/main" noGrp="1"/>
          </p:cNvSpPr>
          <p:nvPr/>
        </p:nvSpPr>
        <p:spPr>
          <a:xfrm xmlns:a="http://schemas.openxmlformats.org/drawingml/2006/main">
            <a:off x="609600" y="3714750"/>
            <a:ext cx="2876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275D51"/>
                </a:solidFill>
                <a:latin typeface="Arial"/>
                <a:ea typeface="Arial"/>
                <a:cs typeface="Arial"/>
              </a:defRPr>
            </a:defPPr>
          </a:lstStyle>
          <a:p xmlns:a="http://schemas.openxmlformats.org/drawingml/2006/main">
            <a:pPr>
              <a:defRPr sz="1875" b="1">
                <a:solidFill>
                  <a:srgbClr val="275D51"/>
                </a:solidFill>
                <a:latin typeface="Arial"/>
                <a:ea typeface="Arial"/>
                <a:cs typeface="Arial"/>
              </a:defRPr>
            </a:pPr>
            <a:r>
              <a:rPr sz="1875" b="1">
                <a:solidFill>
                  <a:srgbClr val="275D51"/>
                </a:solidFill>
                <a:latin typeface="Arial"/>
                <a:ea typeface="Arial"/>
                <a:cs typeface="Arial"/>
              </a:rPr>
              <a:t>Inspectable record</a:t>
            </a:r>
          </a:p>
        </p:txBody>
      </p:sp>
      <p:sp>
        <p:nvSpPr>
          <p:cNvPr id="8" name="body-390">
            <a:extLst xmlns:a="http://schemas.openxmlformats.org/drawingml/2006/main">
              <a:ext uri="{FF2B5EF4-FFF2-40B4-BE49-F238E27FC236}">
                <a16:creationId xmlns:a16="http://schemas.microsoft.com/office/drawing/2014/main" id="{1E911715-586E-4C12-9DAF-6A4AD6FCA4C8}"/>
              </a:ext>
            </a:extLst>
          </p:cNvPr>
          <p:cNvSpPr>
            <a:spLocks xmlns:a="http://schemas.openxmlformats.org/drawingml/2006/main" noGrp="1"/>
          </p:cNvSpPr>
          <p:nvPr/>
        </p:nvSpPr>
        <p:spPr>
          <a:xfrm xmlns:a="http://schemas.openxmlformats.org/drawingml/2006/main">
            <a:off x="609600" y="4143375"/>
            <a:ext cx="28765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43B33"/>
                </a:solidFill>
                <a:latin typeface="Arial"/>
                <a:ea typeface="Arial"/>
                <a:cs typeface="Arial"/>
              </a:defRPr>
            </a:defPPr>
          </a:lstStyle>
          <a:p xmlns:a="http://schemas.openxmlformats.org/drawingml/2006/main">
            <a:pPr>
              <a:defRPr sz="1800" b="0">
                <a:solidFill>
                  <a:srgbClr val="243B33"/>
                </a:solidFill>
                <a:latin typeface="Arial"/>
                <a:ea typeface="Arial"/>
                <a:cs typeface="Arial"/>
              </a:defRPr>
            </a:pPr>
            <a:r>
              <a:rPr sz="1800" b="0">
                <a:solidFill>
                  <a:srgbClr val="243B33"/>
                </a:solidFill>
                <a:latin typeface="Arial"/>
                <a:ea typeface="Arial"/>
                <a:cs typeface="Arial"/>
              </a:rPr>
              <a:t>Source versions and limitations stay attached to the receipt.</a:t>
            </a:r>
          </a:p>
        </p:txBody>
      </p:sp>
      <p:pic>
        <p:nvPicPr>
          <p:cNvPr id="9" name="">
            <a:extLst xmlns:a="http://schemas.openxmlformats.org/drawingml/2006/main">
              <a:ext uri="{FF2B5EF4-FFF2-40B4-BE49-F238E27FC236}">
                <a16:creationId xmlns:a16="http://schemas.microsoft.com/office/drawing/2014/main" id="{F041D1A8-965E-4A16-9D83-3BC63569B67B}"/>
              </a:ext>
            </a:extLst>
          </p:cNvPr>
          <p:cNvPicPr>
            <a:picLocks xmlns:a="http://schemas.openxmlformats.org/drawingml/2006/main" noChangeAspect="1"/>
          </p:cNvPicPr>
          <p:nvPr/>
        </p:nvPicPr>
        <p:blipFill>
          <a:blip xmlns:r="http://schemas.openxmlformats.org/officeDocument/2006/relationships" xmlns:a="http://schemas.openxmlformats.org/drawingml/2006/main" r:embed="Rca3f23c84e344c1f"/>
          <a:stretch xmlns:a="http://schemas.openxmlformats.org/drawingml/2006/main"/>
        </p:blipFill>
        <p:spPr>
          <a:xfrm xmlns:a="http://schemas.openxmlformats.org/drawingml/2006/main">
            <a:off x="3781425" y="1971630"/>
            <a:ext cx="7800975" cy="4057740"/>
          </a:xfrm>
          <a:prstGeom xmlns:a="http://schemas.openxmlformats.org/drawingml/2006/main" prst="rect">
            <a:avLst/>
          </a:prstGeom>
        </p:spPr>
      </p:pic>
    </p:spTree>
    <p:extLst>
      <p:ext uri="{BB962C8B-B14F-4D97-AF65-F5344CB8AC3E}">
        <p14:creationId xmlns:p14="http://schemas.microsoft.com/office/powerpoint/2010/main" val="391843020"/>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3868A824-85C9-43E1-959C-278EBE46B681}"/>
              </a:ext>
            </a:extLst>
          </p:cNvPr>
          <p:cNvSpPr>
            <a:spLocks xmlns:a="http://schemas.openxmlformats.org/drawingml/2006/main" noGrp="1"/>
          </p:cNvSpPr>
          <p:nvPr/>
        </p:nvSpPr>
        <p:spPr>
          <a:xfrm xmlns:a="http://schemas.openxmlformats.org/drawingml/2006/main">
            <a:off x="609600" y="4572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0">
                <a:solidFill>
                  <a:srgbClr val="243B33"/>
                </a:solidFill>
                <a:latin typeface="Georgia"/>
                <a:ea typeface="Georgia"/>
                <a:cs typeface="Georgia"/>
              </a:defRPr>
            </a:defPPr>
          </a:lstStyle>
          <a:p xmlns:a="http://schemas.openxmlformats.org/drawingml/2006/main">
            <a:pPr>
              <a:defRPr sz="3900" b="0">
                <a:solidFill>
                  <a:srgbClr val="243B33"/>
                </a:solidFill>
                <a:latin typeface="Georgia"/>
                <a:ea typeface="Georgia"/>
                <a:cs typeface="Georgia"/>
              </a:defRPr>
            </a:pPr>
            <a:r>
              <a:rPr sz="3900" b="0">
                <a:solidFill>
                  <a:srgbClr val="243B33"/>
                </a:solidFill>
                <a:latin typeface="Georgia"/>
                <a:ea typeface="Georgia"/>
                <a:cs typeface="Georgia"/>
              </a:rPr>
              <a:t>A question the user chooses to keep</a:t>
            </a:r>
          </a:p>
        </p:txBody>
      </p:sp>
      <p:sp>
        <p:nvSpPr>
          <p:cNvPr id="2" name="subtitle">
            <a:extLst xmlns:a="http://schemas.openxmlformats.org/drawingml/2006/main">
              <a:ext uri="{FF2B5EF4-FFF2-40B4-BE49-F238E27FC236}">
                <a16:creationId xmlns:a16="http://schemas.microsoft.com/office/drawing/2014/main" id="{16BF556E-5CE3-4B59-9FBA-D382035BD5BB}"/>
              </a:ext>
            </a:extLst>
          </p:cNvPr>
          <p:cNvSpPr>
            <a:spLocks xmlns:a="http://schemas.openxmlformats.org/drawingml/2006/main" noGrp="1"/>
          </p:cNvSpPr>
          <p:nvPr/>
        </p:nvSpPr>
        <p:spPr>
          <a:xfrm xmlns:a="http://schemas.openxmlformats.org/drawingml/2006/main">
            <a:off x="628650" y="1333500"/>
            <a:ext cx="10934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C6D64"/>
                </a:solidFill>
                <a:latin typeface="Arial"/>
                <a:ea typeface="Arial"/>
                <a:cs typeface="Arial"/>
              </a:defRPr>
            </a:defPPr>
          </a:lstStyle>
          <a:p xmlns:a="http://schemas.openxmlformats.org/drawingml/2006/main">
            <a:pPr>
              <a:defRPr sz="1800" b="0">
                <a:solidFill>
                  <a:srgbClr val="5C6D64"/>
                </a:solidFill>
                <a:latin typeface="Arial"/>
                <a:ea typeface="Arial"/>
                <a:cs typeface="Arial"/>
              </a:defRPr>
            </a:pPr>
            <a:r>
              <a:rPr sz="1800" b="0">
                <a:solidFill>
                  <a:srgbClr val="5C6D64"/>
                </a:solidFill>
                <a:latin typeface="Arial"/>
                <a:ea typeface="Arial"/>
                <a:cs typeface="Arial"/>
              </a:rPr>
              <a:t>Explicit save consent, followed by a simulated later check-in</a:t>
            </a:r>
          </a:p>
        </p:txBody>
      </p:sp>
      <p:sp>
        <p:nvSpPr>
          <p:cNvPr id="3" name="disclosure">
            <a:extLst xmlns:a="http://schemas.openxmlformats.org/drawingml/2006/main">
              <a:ext uri="{FF2B5EF4-FFF2-40B4-BE49-F238E27FC236}">
                <a16:creationId xmlns:a16="http://schemas.microsoft.com/office/drawing/2014/main" id="{646C60CB-E90F-4066-AEB5-7E7D95F714D6}"/>
              </a:ext>
            </a:extLst>
          </p:cNvPr>
          <p:cNvSpPr>
            <a:spLocks xmlns:a="http://schemas.openxmlformats.org/drawingml/2006/main" noGrp="1"/>
          </p:cNvSpPr>
          <p:nvPr/>
        </p:nvSpPr>
        <p:spPr>
          <a:xfrm xmlns:a="http://schemas.openxmlformats.org/drawingml/2006/main">
            <a:off x="609600" y="64579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C6D64"/>
                </a:solidFill>
                <a:latin typeface="Arial"/>
                <a:ea typeface="Arial"/>
                <a:cs typeface="Arial"/>
              </a:defRPr>
            </a:defPPr>
          </a:lstStyle>
          <a:p xmlns:a="http://schemas.openxmlformats.org/drawingml/2006/main">
            <a:pPr>
              <a:defRPr sz="1275" b="0">
                <a:solidFill>
                  <a:srgbClr val="5C6D64"/>
                </a:solidFill>
                <a:latin typeface="Arial"/>
                <a:ea typeface="Arial"/>
                <a:cs typeface="Arial"/>
              </a:defRPr>
            </a:pPr>
            <a:r>
              <a:rPr sz="1275" b="0">
                <a:solidFill>
                  <a:srgbClr val="5C6D64"/>
                </a:solidFill>
                <a:latin typeface="Arial"/>
                <a:ea typeface="Arial"/>
                <a:cs typeface="Arial"/>
              </a:rPr>
              <a:t>Recorded screenshot walkthrough  /  Fictional engineering prototype</a:t>
            </a:r>
          </a:p>
        </p:txBody>
      </p:sp>
      <p:sp>
        <p:nvSpPr>
          <p:cNvPr id="4" name="page">
            <a:extLst xmlns:a="http://schemas.openxmlformats.org/drawingml/2006/main">
              <a:ext uri="{FF2B5EF4-FFF2-40B4-BE49-F238E27FC236}">
                <a16:creationId xmlns:a16="http://schemas.microsoft.com/office/drawing/2014/main" id="{8019361E-AC2F-4643-B99D-05B89201C80A}"/>
              </a:ext>
            </a:extLst>
          </p:cNvPr>
          <p:cNvSpPr>
            <a:spLocks xmlns:a="http://schemas.openxmlformats.org/drawingml/2006/main" noGrp="1"/>
          </p:cNvSpPr>
          <p:nvPr/>
        </p:nvSpPr>
        <p:spPr>
          <a:xfrm xmlns:a="http://schemas.openxmlformats.org/drawingml/2006/main">
            <a:off x="11049000" y="64579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C6D64"/>
                </a:solidFill>
                <a:latin typeface="Arial"/>
                <a:ea typeface="Arial"/>
                <a:cs typeface="Arial"/>
              </a:defRPr>
            </a:defPPr>
          </a:lstStyle>
          <a:p xmlns:a="http://schemas.openxmlformats.org/drawingml/2006/main">
            <a:pPr>
              <a:defRPr sz="1275" b="0">
                <a:solidFill>
                  <a:srgbClr val="5C6D64"/>
                </a:solidFill>
                <a:latin typeface="Arial"/>
                <a:ea typeface="Arial"/>
                <a:cs typeface="Arial"/>
              </a:defRPr>
            </a:pPr>
            <a:r>
              <a:rPr sz="1275" b="0">
                <a:solidFill>
                  <a:srgbClr val="5C6D64"/>
                </a:solidFill>
                <a:latin typeface="Arial"/>
                <a:ea typeface="Arial"/>
                <a:cs typeface="Arial"/>
              </a:rPr>
              <a:t>05</a:t>
            </a:r>
          </a:p>
        </p:txBody>
      </p:sp>
      <p:sp>
        <p:nvSpPr>
          <p:cNvPr id="5" name="left-label">
            <a:extLst xmlns:a="http://schemas.openxmlformats.org/drawingml/2006/main">
              <a:ext uri="{FF2B5EF4-FFF2-40B4-BE49-F238E27FC236}">
                <a16:creationId xmlns:a16="http://schemas.microsoft.com/office/drawing/2014/main" id="{5F6FBDB8-2184-4F32-ABF3-2E211950EE8F}"/>
              </a:ext>
            </a:extLst>
          </p:cNvPr>
          <p:cNvSpPr>
            <a:spLocks xmlns:a="http://schemas.openxmlformats.org/drawingml/2006/main" noGrp="1"/>
          </p:cNvSpPr>
          <p:nvPr/>
        </p:nvSpPr>
        <p:spPr>
          <a:xfrm xmlns:a="http://schemas.openxmlformats.org/drawingml/2006/main">
            <a:off x="609600" y="2000250"/>
            <a:ext cx="5257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75D51"/>
                </a:solidFill>
                <a:latin typeface="Arial"/>
                <a:ea typeface="Arial"/>
                <a:cs typeface="Arial"/>
              </a:defRPr>
            </a:defPPr>
          </a:lstStyle>
          <a:p xmlns:a="http://schemas.openxmlformats.org/drawingml/2006/main">
            <a:pPr>
              <a:defRPr sz="2100" b="1">
                <a:solidFill>
                  <a:srgbClr val="275D51"/>
                </a:solidFill>
                <a:latin typeface="Arial"/>
                <a:ea typeface="Arial"/>
                <a:cs typeface="Arial"/>
              </a:defRPr>
            </a:pPr>
            <a:r>
              <a:rPr sz="2100" b="1">
                <a:solidFill>
                  <a:srgbClr val="275D51"/>
                </a:solidFill>
                <a:latin typeface="Arial"/>
                <a:ea typeface="Arial"/>
                <a:cs typeface="Arial"/>
              </a:rPr>
              <a:t>Exact preview and consent</a:t>
            </a:r>
          </a:p>
        </p:txBody>
      </p:sp>
      <p:sp>
        <p:nvSpPr>
          <p:cNvPr id="6" name="right-label">
            <a:extLst xmlns:a="http://schemas.openxmlformats.org/drawingml/2006/main">
              <a:ext uri="{FF2B5EF4-FFF2-40B4-BE49-F238E27FC236}">
                <a16:creationId xmlns:a16="http://schemas.microsoft.com/office/drawing/2014/main" id="{15F60F97-5172-4A42-AEA0-B99F6586B73B}"/>
              </a:ext>
            </a:extLst>
          </p:cNvPr>
          <p:cNvSpPr>
            <a:spLocks xmlns:a="http://schemas.openxmlformats.org/drawingml/2006/main" noGrp="1"/>
          </p:cNvSpPr>
          <p:nvPr/>
        </p:nvSpPr>
        <p:spPr>
          <a:xfrm xmlns:a="http://schemas.openxmlformats.org/drawingml/2006/main">
            <a:off x="6324600" y="2000250"/>
            <a:ext cx="5257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75D51"/>
                </a:solidFill>
                <a:latin typeface="Arial"/>
                <a:ea typeface="Arial"/>
                <a:cs typeface="Arial"/>
              </a:defRPr>
            </a:defPPr>
          </a:lstStyle>
          <a:p xmlns:a="http://schemas.openxmlformats.org/drawingml/2006/main">
            <a:pPr>
              <a:defRPr sz="2100" b="1">
                <a:solidFill>
                  <a:srgbClr val="275D51"/>
                </a:solidFill>
                <a:latin typeface="Arial"/>
                <a:ea typeface="Arial"/>
                <a:cs typeface="Arial"/>
              </a:defRPr>
            </a:pPr>
            <a:r>
              <a:rPr sz="2100" b="1">
                <a:solidFill>
                  <a:srgbClr val="275D51"/>
                </a:solidFill>
                <a:latin typeface="Arial"/>
                <a:ea typeface="Arial"/>
                <a:cs typeface="Arial"/>
              </a:rPr>
              <a:t>Self-reported follow-through</a:t>
            </a:r>
          </a:p>
        </p:txBody>
      </p:sp>
      <p:pic>
        <p:nvPicPr>
          <p:cNvPr id="7" name="">
            <a:extLst xmlns:a="http://schemas.openxmlformats.org/drawingml/2006/main">
              <a:ext uri="{FF2B5EF4-FFF2-40B4-BE49-F238E27FC236}">
                <a16:creationId xmlns:a16="http://schemas.microsoft.com/office/drawing/2014/main" id="{B5108962-FBE7-4203-8272-3C401DEFD580}"/>
              </a:ext>
            </a:extLst>
          </p:cNvPr>
          <p:cNvPicPr>
            <a:picLocks xmlns:a="http://schemas.openxmlformats.org/drawingml/2006/main" noChangeAspect="1"/>
          </p:cNvPicPr>
          <p:nvPr/>
        </p:nvPicPr>
        <p:blipFill>
          <a:blip xmlns:r="http://schemas.openxmlformats.org/officeDocument/2006/relationships" xmlns:a="http://schemas.openxmlformats.org/drawingml/2006/main" r:embed="R1692bcce0e744c7b"/>
          <a:stretch xmlns:a="http://schemas.openxmlformats.org/drawingml/2006/main"/>
        </p:blipFill>
        <p:spPr>
          <a:xfrm xmlns:a="http://schemas.openxmlformats.org/drawingml/2006/main">
            <a:off x="609650" y="2466975"/>
            <a:ext cx="5257700" cy="273367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8EF24157-4EDF-4BBD-88A4-F5E5FD6857E3}"/>
              </a:ext>
            </a:extLst>
          </p:cNvPr>
          <p:cNvPicPr>
            <a:picLocks xmlns:a="http://schemas.openxmlformats.org/drawingml/2006/main" noChangeAspect="1"/>
          </p:cNvPicPr>
          <p:nvPr/>
        </p:nvPicPr>
        <p:blipFill>
          <a:blip xmlns:r="http://schemas.openxmlformats.org/officeDocument/2006/relationships" xmlns:a="http://schemas.openxmlformats.org/drawingml/2006/main" r:embed="R77b943ae121e4f8b"/>
          <a:stretch xmlns:a="http://schemas.openxmlformats.org/drawingml/2006/main"/>
        </p:blipFill>
        <p:spPr>
          <a:xfrm xmlns:a="http://schemas.openxmlformats.org/drawingml/2006/main">
            <a:off x="6325765" y="2466975"/>
            <a:ext cx="5255469" cy="2733675"/>
          </a:xfrm>
          <a:prstGeom xmlns:a="http://schemas.openxmlformats.org/drawingml/2006/main" prst="rect">
            <a:avLst/>
          </a:prstGeom>
        </p:spPr>
      </p:pic>
      <p:sp>
        <p:nvSpPr>
          <p:cNvPr id="9" name="retention">
            <a:extLst xmlns:a="http://schemas.openxmlformats.org/drawingml/2006/main">
              <a:ext uri="{FF2B5EF4-FFF2-40B4-BE49-F238E27FC236}">
                <a16:creationId xmlns:a16="http://schemas.microsoft.com/office/drawing/2014/main" id="{76AF3156-EEF2-47D9-AABB-49A7F415F7D2}"/>
              </a:ext>
            </a:extLst>
          </p:cNvPr>
          <p:cNvSpPr>
            <a:spLocks xmlns:a="http://schemas.openxmlformats.org/drawingml/2006/main" noGrp="1"/>
          </p:cNvSpPr>
          <p:nvPr/>
        </p:nvSpPr>
        <p:spPr>
          <a:xfrm xmlns:a="http://schemas.openxmlformats.org/drawingml/2006/main">
            <a:off x="609600" y="5524500"/>
            <a:ext cx="5143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43B33"/>
                </a:solidFill>
                <a:latin typeface="Arial"/>
                <a:ea typeface="Arial"/>
                <a:cs typeface="Arial"/>
              </a:defRPr>
            </a:defPPr>
          </a:lstStyle>
          <a:p xmlns:a="http://schemas.openxmlformats.org/drawingml/2006/main">
            <a:pPr>
              <a:defRPr sz="1800" b="0">
                <a:solidFill>
                  <a:srgbClr val="243B33"/>
                </a:solidFill>
                <a:latin typeface="Arial"/>
                <a:ea typeface="Arial"/>
                <a:cs typeface="Arial"/>
              </a:defRPr>
            </a:pPr>
            <a:r>
              <a:rPr sz="1800" b="0">
                <a:solidFill>
                  <a:srgbClr val="243B33"/>
                </a:solidFill>
                <a:latin typeface="Arial"/>
                <a:ea typeface="Arial"/>
                <a:cs typeface="Arial"/>
              </a:rPr>
              <a:t>The saved record excludes the original pasted text.</a:t>
            </a:r>
          </a:p>
        </p:txBody>
      </p:sp>
      <p:sp>
        <p:nvSpPr>
          <p:cNvPr id="10" name="self-report">
            <a:extLst xmlns:a="http://schemas.openxmlformats.org/drawingml/2006/main">
              <a:ext uri="{FF2B5EF4-FFF2-40B4-BE49-F238E27FC236}">
                <a16:creationId xmlns:a16="http://schemas.microsoft.com/office/drawing/2014/main" id="{865AC5FF-2D40-4054-8133-398BBCD11016}"/>
              </a:ext>
            </a:extLst>
          </p:cNvPr>
          <p:cNvSpPr>
            <a:spLocks xmlns:a="http://schemas.openxmlformats.org/drawingml/2006/main" noGrp="1"/>
          </p:cNvSpPr>
          <p:nvPr/>
        </p:nvSpPr>
        <p:spPr>
          <a:xfrm xmlns:a="http://schemas.openxmlformats.org/drawingml/2006/main">
            <a:off x="6324600" y="5524500"/>
            <a:ext cx="5257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43B33"/>
                </a:solidFill>
                <a:latin typeface="Arial"/>
                <a:ea typeface="Arial"/>
                <a:cs typeface="Arial"/>
              </a:defRPr>
            </a:defPPr>
          </a:lstStyle>
          <a:p xmlns:a="http://schemas.openxmlformats.org/drawingml/2006/main">
            <a:pPr>
              <a:defRPr sz="1800" b="0">
                <a:solidFill>
                  <a:srgbClr val="243B33"/>
                </a:solidFill>
                <a:latin typeface="Arial"/>
                <a:ea typeface="Arial"/>
                <a:cs typeface="Arial"/>
              </a:defRPr>
            </a:pPr>
            <a:r>
              <a:rPr sz="1800" b="0">
                <a:solidFill>
                  <a:srgbClr val="243B33"/>
                </a:solidFill>
                <a:latin typeface="Arial"/>
                <a:ea typeface="Arial"/>
                <a:cs typeface="Arial"/>
              </a:rPr>
              <a:t>A check-in does not verify adherence or a health outcome.</a:t>
            </a:r>
          </a:p>
        </p:txBody>
      </p:sp>
    </p:spTree>
    <p:extLst>
      <p:ext uri="{BB962C8B-B14F-4D97-AF65-F5344CB8AC3E}">
        <p14:creationId xmlns:p14="http://schemas.microsoft.com/office/powerpoint/2010/main" val="503639680"/>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23C3C947-84B7-476F-8629-79B6E7B281B6}"/>
              </a:ext>
            </a:extLst>
          </p:cNvPr>
          <p:cNvSpPr>
            <a:spLocks xmlns:a="http://schemas.openxmlformats.org/drawingml/2006/main" noGrp="1"/>
          </p:cNvSpPr>
          <p:nvPr/>
        </p:nvSpPr>
        <p:spPr>
          <a:xfrm xmlns:a="http://schemas.openxmlformats.org/drawingml/2006/main">
            <a:off x="609600" y="4572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0">
                <a:solidFill>
                  <a:srgbClr val="243B33"/>
                </a:solidFill>
                <a:latin typeface="Georgia"/>
                <a:ea typeface="Georgia"/>
                <a:cs typeface="Georgia"/>
              </a:defRPr>
            </a:defPPr>
          </a:lstStyle>
          <a:p xmlns:a="http://schemas.openxmlformats.org/drawingml/2006/main">
            <a:pPr>
              <a:defRPr sz="3900" b="0">
                <a:solidFill>
                  <a:srgbClr val="243B33"/>
                </a:solidFill>
                <a:latin typeface="Georgia"/>
                <a:ea typeface="Georgia"/>
                <a:cs typeface="Georgia"/>
              </a:defRPr>
            </a:pPr>
            <a:r>
              <a:rPr sz="3900" b="0">
                <a:solidFill>
                  <a:srgbClr val="243B33"/>
                </a:solidFill>
                <a:latin typeface="Georgia"/>
                <a:ea typeface="Georgia"/>
                <a:cs typeface="Georgia"/>
              </a:rPr>
              <a:t>A receipt after source withdrawal</a:t>
            </a:r>
          </a:p>
        </p:txBody>
      </p:sp>
      <p:sp>
        <p:nvSpPr>
          <p:cNvPr id="2" name="subtitle">
            <a:extLst xmlns:a="http://schemas.openxmlformats.org/drawingml/2006/main">
              <a:ext uri="{FF2B5EF4-FFF2-40B4-BE49-F238E27FC236}">
                <a16:creationId xmlns:a16="http://schemas.microsoft.com/office/drawing/2014/main" id="{F365D1F0-4F4F-4CA7-82AE-A291ACCEE6FC}"/>
              </a:ext>
            </a:extLst>
          </p:cNvPr>
          <p:cNvSpPr>
            <a:spLocks xmlns:a="http://schemas.openxmlformats.org/drawingml/2006/main" noGrp="1"/>
          </p:cNvSpPr>
          <p:nvPr/>
        </p:nvSpPr>
        <p:spPr>
          <a:xfrm xmlns:a="http://schemas.openxmlformats.org/drawingml/2006/main">
            <a:off x="628650" y="1333500"/>
            <a:ext cx="10934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C6D64"/>
                </a:solidFill>
                <a:latin typeface="Arial"/>
                <a:ea typeface="Arial"/>
                <a:cs typeface="Arial"/>
              </a:defRPr>
            </a:defPPr>
          </a:lstStyle>
          <a:p xmlns:a="http://schemas.openxmlformats.org/drawingml/2006/main">
            <a:pPr>
              <a:defRPr sz="1800" b="0">
                <a:solidFill>
                  <a:srgbClr val="5C6D64"/>
                </a:solidFill>
                <a:latin typeface="Arial"/>
                <a:ea typeface="Arial"/>
                <a:cs typeface="Arial"/>
              </a:defRPr>
            </a:pPr>
            <a:r>
              <a:rPr sz="1800" b="0">
                <a:solidFill>
                  <a:srgbClr val="5C6D64"/>
                </a:solidFill>
                <a:latin typeface="Arial"/>
                <a:ea typeface="Arial"/>
                <a:cs typeface="Arial"/>
              </a:rPr>
              <a:t>Historical information retains its history, while current trust changes</a:t>
            </a:r>
          </a:p>
        </p:txBody>
      </p:sp>
      <p:sp>
        <p:nvSpPr>
          <p:cNvPr id="3" name="disclosure">
            <a:extLst xmlns:a="http://schemas.openxmlformats.org/drawingml/2006/main">
              <a:ext uri="{FF2B5EF4-FFF2-40B4-BE49-F238E27FC236}">
                <a16:creationId xmlns:a16="http://schemas.microsoft.com/office/drawing/2014/main" id="{4C8E5FEE-E240-46D8-A79A-52369DDE0D25}"/>
              </a:ext>
            </a:extLst>
          </p:cNvPr>
          <p:cNvSpPr>
            <a:spLocks xmlns:a="http://schemas.openxmlformats.org/drawingml/2006/main" noGrp="1"/>
          </p:cNvSpPr>
          <p:nvPr/>
        </p:nvSpPr>
        <p:spPr>
          <a:xfrm xmlns:a="http://schemas.openxmlformats.org/drawingml/2006/main">
            <a:off x="609600" y="64579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C6D64"/>
                </a:solidFill>
                <a:latin typeface="Arial"/>
                <a:ea typeface="Arial"/>
                <a:cs typeface="Arial"/>
              </a:defRPr>
            </a:defPPr>
          </a:lstStyle>
          <a:p xmlns:a="http://schemas.openxmlformats.org/drawingml/2006/main">
            <a:pPr>
              <a:defRPr sz="1275" b="0">
                <a:solidFill>
                  <a:srgbClr val="5C6D64"/>
                </a:solidFill>
                <a:latin typeface="Arial"/>
                <a:ea typeface="Arial"/>
                <a:cs typeface="Arial"/>
              </a:defRPr>
            </a:pPr>
            <a:r>
              <a:rPr sz="1275" b="0">
                <a:solidFill>
                  <a:srgbClr val="5C6D64"/>
                </a:solidFill>
                <a:latin typeface="Arial"/>
                <a:ea typeface="Arial"/>
                <a:cs typeface="Arial"/>
              </a:rPr>
              <a:t>Recorded screenshot walkthrough  /  Fictional engineering prototype</a:t>
            </a:r>
          </a:p>
        </p:txBody>
      </p:sp>
      <p:sp>
        <p:nvSpPr>
          <p:cNvPr id="4" name="page">
            <a:extLst xmlns:a="http://schemas.openxmlformats.org/drawingml/2006/main">
              <a:ext uri="{FF2B5EF4-FFF2-40B4-BE49-F238E27FC236}">
                <a16:creationId xmlns:a16="http://schemas.microsoft.com/office/drawing/2014/main" id="{8A171E4B-B057-4D3E-BE4F-A2C14A8EEE8F}"/>
              </a:ext>
            </a:extLst>
          </p:cNvPr>
          <p:cNvSpPr>
            <a:spLocks xmlns:a="http://schemas.openxmlformats.org/drawingml/2006/main" noGrp="1"/>
          </p:cNvSpPr>
          <p:nvPr/>
        </p:nvSpPr>
        <p:spPr>
          <a:xfrm xmlns:a="http://schemas.openxmlformats.org/drawingml/2006/main">
            <a:off x="11049000" y="64579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C6D64"/>
                </a:solidFill>
                <a:latin typeface="Arial"/>
                <a:ea typeface="Arial"/>
                <a:cs typeface="Arial"/>
              </a:defRPr>
            </a:defPPr>
          </a:lstStyle>
          <a:p xmlns:a="http://schemas.openxmlformats.org/drawingml/2006/main">
            <a:pPr>
              <a:defRPr sz="1275" b="0">
                <a:solidFill>
                  <a:srgbClr val="5C6D64"/>
                </a:solidFill>
                <a:latin typeface="Arial"/>
                <a:ea typeface="Arial"/>
                <a:cs typeface="Arial"/>
              </a:defRPr>
            </a:pPr>
            <a:r>
              <a:rPr sz="1275" b="0">
                <a:solidFill>
                  <a:srgbClr val="5C6D64"/>
                </a:solidFill>
                <a:latin typeface="Arial"/>
                <a:ea typeface="Arial"/>
                <a:cs typeface="Arial"/>
              </a:rPr>
              <a:t>06</a:t>
            </a:r>
          </a:p>
        </p:txBody>
      </p:sp>
      <p:sp>
        <p:nvSpPr>
          <p:cNvPr id="5" name="label-218">
            <a:extLst xmlns:a="http://schemas.openxmlformats.org/drawingml/2006/main">
              <a:ext uri="{FF2B5EF4-FFF2-40B4-BE49-F238E27FC236}">
                <a16:creationId xmlns:a16="http://schemas.microsoft.com/office/drawing/2014/main" id="{94C3BCDE-E5E1-4015-80DE-8780461736E9}"/>
              </a:ext>
            </a:extLst>
          </p:cNvPr>
          <p:cNvSpPr>
            <a:spLocks xmlns:a="http://schemas.openxmlformats.org/drawingml/2006/main" noGrp="1"/>
          </p:cNvSpPr>
          <p:nvPr/>
        </p:nvSpPr>
        <p:spPr>
          <a:xfrm xmlns:a="http://schemas.openxmlformats.org/drawingml/2006/main">
            <a:off x="609600" y="2076450"/>
            <a:ext cx="2876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275D51"/>
                </a:solidFill>
                <a:latin typeface="Arial"/>
                <a:ea typeface="Arial"/>
                <a:cs typeface="Arial"/>
              </a:defRPr>
            </a:defPPr>
          </a:lstStyle>
          <a:p xmlns:a="http://schemas.openxmlformats.org/drawingml/2006/main">
            <a:pPr>
              <a:defRPr sz="1875" b="1">
                <a:solidFill>
                  <a:srgbClr val="275D51"/>
                </a:solidFill>
                <a:latin typeface="Arial"/>
                <a:ea typeface="Arial"/>
                <a:cs typeface="Arial"/>
              </a:defRPr>
            </a:pPr>
            <a:r>
              <a:rPr sz="1875" b="1">
                <a:solidFill>
                  <a:srgbClr val="275D51"/>
                </a:solidFill>
                <a:latin typeface="Arial"/>
                <a:ea typeface="Arial"/>
                <a:cs typeface="Arial"/>
              </a:rPr>
              <a:t>Current trust check</a:t>
            </a:r>
          </a:p>
        </p:txBody>
      </p:sp>
      <p:sp>
        <p:nvSpPr>
          <p:cNvPr id="6" name="body-218">
            <a:extLst xmlns:a="http://schemas.openxmlformats.org/drawingml/2006/main">
              <a:ext uri="{FF2B5EF4-FFF2-40B4-BE49-F238E27FC236}">
                <a16:creationId xmlns:a16="http://schemas.microsoft.com/office/drawing/2014/main" id="{C11A83FA-DFA5-4028-AAE4-325933AE9AC5}"/>
              </a:ext>
            </a:extLst>
          </p:cNvPr>
          <p:cNvSpPr>
            <a:spLocks xmlns:a="http://schemas.openxmlformats.org/drawingml/2006/main" noGrp="1"/>
          </p:cNvSpPr>
          <p:nvPr/>
        </p:nvSpPr>
        <p:spPr>
          <a:xfrm xmlns:a="http://schemas.openxmlformats.org/drawingml/2006/main">
            <a:off x="609600" y="2505075"/>
            <a:ext cx="28765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43B33"/>
                </a:solidFill>
                <a:latin typeface="Arial"/>
                <a:ea typeface="Arial"/>
                <a:cs typeface="Arial"/>
              </a:defRPr>
            </a:defPPr>
          </a:lstStyle>
          <a:p xmlns:a="http://schemas.openxmlformats.org/drawingml/2006/main">
            <a:pPr>
              <a:defRPr sz="1800" b="0">
                <a:solidFill>
                  <a:srgbClr val="243B33"/>
                </a:solidFill>
                <a:latin typeface="Arial"/>
                <a:ea typeface="Arial"/>
                <a:cs typeface="Arial"/>
              </a:defRPr>
            </a:pPr>
            <a:r>
              <a:rPr sz="1800" b="0">
                <a:solidFill>
                  <a:srgbClr val="243B33"/>
                </a:solidFill>
                <a:latin typeface="Arial"/>
                <a:ea typeface="Arial"/>
                <a:cs typeface="Arial"/>
              </a:rPr>
              <a:t>A withdrawn dependency blocks relevant new use.</a:t>
            </a:r>
          </a:p>
        </p:txBody>
      </p:sp>
      <p:sp>
        <p:nvSpPr>
          <p:cNvPr id="7" name="label-392">
            <a:extLst xmlns:a="http://schemas.openxmlformats.org/drawingml/2006/main">
              <a:ext uri="{FF2B5EF4-FFF2-40B4-BE49-F238E27FC236}">
                <a16:creationId xmlns:a16="http://schemas.microsoft.com/office/drawing/2014/main" id="{0E12B0FC-A868-4549-94B2-A6D6018F756F}"/>
              </a:ext>
            </a:extLst>
          </p:cNvPr>
          <p:cNvSpPr>
            <a:spLocks xmlns:a="http://schemas.openxmlformats.org/drawingml/2006/main" noGrp="1"/>
          </p:cNvSpPr>
          <p:nvPr/>
        </p:nvSpPr>
        <p:spPr>
          <a:xfrm xmlns:a="http://schemas.openxmlformats.org/drawingml/2006/main">
            <a:off x="609600" y="3733800"/>
            <a:ext cx="2876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275D51"/>
                </a:solidFill>
                <a:latin typeface="Arial"/>
                <a:ea typeface="Arial"/>
                <a:cs typeface="Arial"/>
              </a:defRPr>
            </a:defPPr>
          </a:lstStyle>
          <a:p xmlns:a="http://schemas.openxmlformats.org/drawingml/2006/main">
            <a:pPr>
              <a:defRPr sz="1875" b="1">
                <a:solidFill>
                  <a:srgbClr val="275D51"/>
                </a:solidFill>
                <a:latin typeface="Arial"/>
                <a:ea typeface="Arial"/>
                <a:cs typeface="Arial"/>
              </a:defRPr>
            </a:pPr>
            <a:r>
              <a:rPr sz="1875" b="1">
                <a:solidFill>
                  <a:srgbClr val="275D51"/>
                </a:solidFill>
                <a:latin typeface="Arial"/>
                <a:ea typeface="Arial"/>
                <a:cs typeface="Arial"/>
              </a:rPr>
              <a:t>Synthetic exercise</a:t>
            </a:r>
          </a:p>
        </p:txBody>
      </p:sp>
      <p:sp>
        <p:nvSpPr>
          <p:cNvPr id="8" name="body-392">
            <a:extLst xmlns:a="http://schemas.openxmlformats.org/drawingml/2006/main">
              <a:ext uri="{FF2B5EF4-FFF2-40B4-BE49-F238E27FC236}">
                <a16:creationId xmlns:a16="http://schemas.microsoft.com/office/drawing/2014/main" id="{4CEBDE3A-6E71-41D2-B9A1-1538E709D6FB}"/>
              </a:ext>
            </a:extLst>
          </p:cNvPr>
          <p:cNvSpPr>
            <a:spLocks xmlns:a="http://schemas.openxmlformats.org/drawingml/2006/main" noGrp="1"/>
          </p:cNvSpPr>
          <p:nvPr/>
        </p:nvSpPr>
        <p:spPr>
          <a:xfrm xmlns:a="http://schemas.openxmlformats.org/drawingml/2006/main">
            <a:off x="609600" y="4162425"/>
            <a:ext cx="28765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43B33"/>
                </a:solidFill>
                <a:latin typeface="Arial"/>
                <a:ea typeface="Arial"/>
                <a:cs typeface="Arial"/>
              </a:defRPr>
            </a:defPPr>
          </a:lstStyle>
          <a:p xmlns:a="http://schemas.openxmlformats.org/drawingml/2006/main">
            <a:pPr>
              <a:defRPr sz="1800" b="0">
                <a:solidFill>
                  <a:srgbClr val="243B33"/>
                </a:solidFill>
                <a:latin typeface="Arial"/>
                <a:ea typeface="Arial"/>
                <a:cs typeface="Arial"/>
              </a:defRPr>
            </a:pPr>
            <a:r>
              <a:rPr sz="1800" b="0">
                <a:solidFill>
                  <a:srgbClr val="243B33"/>
                </a:solidFill>
                <a:latin typeface="Arial"/>
                <a:ea typeface="Arial"/>
                <a:cs typeface="Arial"/>
              </a:rPr>
              <a:t>This is a fictional withdrawal, not a publisher correction.</a:t>
            </a:r>
          </a:p>
        </p:txBody>
      </p:sp>
      <p:pic>
        <p:nvPicPr>
          <p:cNvPr id="9" name="">
            <a:extLst xmlns:a="http://schemas.openxmlformats.org/drawingml/2006/main">
              <a:ext uri="{FF2B5EF4-FFF2-40B4-BE49-F238E27FC236}">
                <a16:creationId xmlns:a16="http://schemas.microsoft.com/office/drawing/2014/main" id="{35FCA75F-4B03-440E-8934-F8A53918A7AA}"/>
              </a:ext>
            </a:extLst>
          </p:cNvPr>
          <p:cNvPicPr>
            <a:picLocks xmlns:a="http://schemas.openxmlformats.org/drawingml/2006/main" noChangeAspect="1"/>
          </p:cNvPicPr>
          <p:nvPr/>
        </p:nvPicPr>
        <p:blipFill>
          <a:blip xmlns:r="http://schemas.openxmlformats.org/officeDocument/2006/relationships" xmlns:a="http://schemas.openxmlformats.org/drawingml/2006/main" r:embed="R911ef2c4901f4696"/>
          <a:stretch xmlns:a="http://schemas.openxmlformats.org/drawingml/2006/main"/>
        </p:blipFill>
        <p:spPr>
          <a:xfrm xmlns:a="http://schemas.openxmlformats.org/drawingml/2006/main">
            <a:off x="3781425" y="1971630"/>
            <a:ext cx="7800975" cy="4057740"/>
          </a:xfrm>
          <a:prstGeom xmlns:a="http://schemas.openxmlformats.org/drawingml/2006/main" prst="rect">
            <a:avLst/>
          </a:prstGeom>
        </p:spPr>
      </p:pic>
    </p:spTree>
    <p:extLst>
      <p:ext uri="{BB962C8B-B14F-4D97-AF65-F5344CB8AC3E}">
        <p14:creationId xmlns:p14="http://schemas.microsoft.com/office/powerpoint/2010/main" val="877935225"/>
      </p:ext>
    </p:extLst>
  </p:cSld>
</p:sld>
</file>

<file path=ppt/slides/slide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9776FDAE-7F79-446C-86D3-C1803CE21D65}"/>
              </a:ext>
            </a:extLst>
          </p:cNvPr>
          <p:cNvSpPr>
            <a:spLocks xmlns:a="http://schemas.openxmlformats.org/drawingml/2006/main" noGrp="1"/>
          </p:cNvSpPr>
          <p:nvPr/>
        </p:nvSpPr>
        <p:spPr>
          <a:xfrm xmlns:a="http://schemas.openxmlformats.org/drawingml/2006/main">
            <a:off x="609600" y="4572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0">
                <a:solidFill>
                  <a:srgbClr val="243B33"/>
                </a:solidFill>
                <a:latin typeface="Georgia"/>
                <a:ea typeface="Georgia"/>
                <a:cs typeface="Georgia"/>
              </a:defRPr>
            </a:defPPr>
          </a:lstStyle>
          <a:p xmlns:a="http://schemas.openxmlformats.org/drawingml/2006/main">
            <a:pPr>
              <a:defRPr sz="3900" b="0">
                <a:solidFill>
                  <a:srgbClr val="243B33"/>
                </a:solidFill>
                <a:latin typeface="Georgia"/>
                <a:ea typeface="Georgia"/>
                <a:cs typeface="Georgia"/>
              </a:defRPr>
            </a:pPr>
            <a:r>
              <a:rPr sz="3900" b="0">
                <a:solidFill>
                  <a:srgbClr val="243B33"/>
                </a:solidFill>
                <a:latin typeface="Georgia"/>
                <a:ea typeface="Georgia"/>
                <a:cs typeface="Georgia"/>
              </a:rPr>
              <a:t>An unresolved claim</a:t>
            </a:r>
          </a:p>
        </p:txBody>
      </p:sp>
      <p:sp>
        <p:nvSpPr>
          <p:cNvPr id="2" name="subtitle">
            <a:extLst xmlns:a="http://schemas.openxmlformats.org/drawingml/2006/main">
              <a:ext uri="{FF2B5EF4-FFF2-40B4-BE49-F238E27FC236}">
                <a16:creationId xmlns:a16="http://schemas.microsoft.com/office/drawing/2014/main" id="{25D7564C-5820-4C30-9317-0310ADEDC1E6}"/>
              </a:ext>
            </a:extLst>
          </p:cNvPr>
          <p:cNvSpPr>
            <a:spLocks xmlns:a="http://schemas.openxmlformats.org/drawingml/2006/main" noGrp="1"/>
          </p:cNvSpPr>
          <p:nvPr/>
        </p:nvSpPr>
        <p:spPr>
          <a:xfrm xmlns:a="http://schemas.openxmlformats.org/drawingml/2006/main">
            <a:off x="628650" y="1333500"/>
            <a:ext cx="10934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C6D64"/>
                </a:solidFill>
                <a:latin typeface="Arial"/>
                <a:ea typeface="Arial"/>
                <a:cs typeface="Arial"/>
              </a:defRPr>
            </a:defPPr>
          </a:lstStyle>
          <a:p xmlns:a="http://schemas.openxmlformats.org/drawingml/2006/main">
            <a:pPr>
              <a:defRPr sz="1800" b="0">
                <a:solidFill>
                  <a:srgbClr val="5C6D64"/>
                </a:solidFill>
                <a:latin typeface="Arial"/>
                <a:ea typeface="Arial"/>
                <a:cs typeface="Arial"/>
              </a:defRPr>
            </a:pPr>
            <a:r>
              <a:rPr sz="1800" b="0">
                <a:solidFill>
                  <a:srgbClr val="5C6D64"/>
                </a:solidFill>
                <a:latin typeface="Arial"/>
                <a:ea typeface="Arial"/>
                <a:cs typeface="Arial"/>
              </a:rPr>
              <a:t>Manual clarification remains visible when the reader is unavailable</a:t>
            </a:r>
          </a:p>
        </p:txBody>
      </p:sp>
      <p:sp>
        <p:nvSpPr>
          <p:cNvPr id="3" name="disclosure">
            <a:extLst xmlns:a="http://schemas.openxmlformats.org/drawingml/2006/main">
              <a:ext uri="{FF2B5EF4-FFF2-40B4-BE49-F238E27FC236}">
                <a16:creationId xmlns:a16="http://schemas.microsoft.com/office/drawing/2014/main" id="{AE35648F-D724-4E87-86A3-FC90E20607CF}"/>
              </a:ext>
            </a:extLst>
          </p:cNvPr>
          <p:cNvSpPr>
            <a:spLocks xmlns:a="http://schemas.openxmlformats.org/drawingml/2006/main" noGrp="1"/>
          </p:cNvSpPr>
          <p:nvPr/>
        </p:nvSpPr>
        <p:spPr>
          <a:xfrm xmlns:a="http://schemas.openxmlformats.org/drawingml/2006/main">
            <a:off x="609600" y="64579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C6D64"/>
                </a:solidFill>
                <a:latin typeface="Arial"/>
                <a:ea typeface="Arial"/>
                <a:cs typeface="Arial"/>
              </a:defRPr>
            </a:defPPr>
          </a:lstStyle>
          <a:p xmlns:a="http://schemas.openxmlformats.org/drawingml/2006/main">
            <a:pPr>
              <a:defRPr sz="1275" b="0">
                <a:solidFill>
                  <a:srgbClr val="5C6D64"/>
                </a:solidFill>
                <a:latin typeface="Arial"/>
                <a:ea typeface="Arial"/>
                <a:cs typeface="Arial"/>
              </a:defRPr>
            </a:pPr>
            <a:r>
              <a:rPr sz="1275" b="0">
                <a:solidFill>
                  <a:srgbClr val="5C6D64"/>
                </a:solidFill>
                <a:latin typeface="Arial"/>
                <a:ea typeface="Arial"/>
                <a:cs typeface="Arial"/>
              </a:rPr>
              <a:t>Recorded screenshot walkthrough  /  Fictional engineering prototype</a:t>
            </a:r>
          </a:p>
        </p:txBody>
      </p:sp>
      <p:sp>
        <p:nvSpPr>
          <p:cNvPr id="4" name="page">
            <a:extLst xmlns:a="http://schemas.openxmlformats.org/drawingml/2006/main">
              <a:ext uri="{FF2B5EF4-FFF2-40B4-BE49-F238E27FC236}">
                <a16:creationId xmlns:a16="http://schemas.microsoft.com/office/drawing/2014/main" id="{34B75FF3-A047-4690-847A-772E2F9D0228}"/>
              </a:ext>
            </a:extLst>
          </p:cNvPr>
          <p:cNvSpPr>
            <a:spLocks xmlns:a="http://schemas.openxmlformats.org/drawingml/2006/main" noGrp="1"/>
          </p:cNvSpPr>
          <p:nvPr/>
        </p:nvSpPr>
        <p:spPr>
          <a:xfrm xmlns:a="http://schemas.openxmlformats.org/drawingml/2006/main">
            <a:off x="11049000" y="64579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C6D64"/>
                </a:solidFill>
                <a:latin typeface="Arial"/>
                <a:ea typeface="Arial"/>
                <a:cs typeface="Arial"/>
              </a:defRPr>
            </a:defPPr>
          </a:lstStyle>
          <a:p xmlns:a="http://schemas.openxmlformats.org/drawingml/2006/main">
            <a:pPr>
              <a:defRPr sz="1275" b="0">
                <a:solidFill>
                  <a:srgbClr val="5C6D64"/>
                </a:solidFill>
                <a:latin typeface="Arial"/>
                <a:ea typeface="Arial"/>
                <a:cs typeface="Arial"/>
              </a:defRPr>
            </a:pPr>
            <a:r>
              <a:rPr sz="1275" b="0">
                <a:solidFill>
                  <a:srgbClr val="5C6D64"/>
                </a:solidFill>
                <a:latin typeface="Arial"/>
                <a:ea typeface="Arial"/>
                <a:cs typeface="Arial"/>
              </a:rPr>
              <a:t>07</a:t>
            </a:r>
          </a:p>
        </p:txBody>
      </p:sp>
      <p:sp>
        <p:nvSpPr>
          <p:cNvPr id="5" name="label-219">
            <a:extLst xmlns:a="http://schemas.openxmlformats.org/drawingml/2006/main">
              <a:ext uri="{FF2B5EF4-FFF2-40B4-BE49-F238E27FC236}">
                <a16:creationId xmlns:a16="http://schemas.microsoft.com/office/drawing/2014/main" id="{0B736A91-2C53-4270-87CC-706A170DBA41}"/>
              </a:ext>
            </a:extLst>
          </p:cNvPr>
          <p:cNvSpPr>
            <a:spLocks xmlns:a="http://schemas.openxmlformats.org/drawingml/2006/main" noGrp="1"/>
          </p:cNvSpPr>
          <p:nvPr/>
        </p:nvSpPr>
        <p:spPr>
          <a:xfrm xmlns:a="http://schemas.openxmlformats.org/drawingml/2006/main">
            <a:off x="609600" y="2085975"/>
            <a:ext cx="2876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275D51"/>
                </a:solidFill>
                <a:latin typeface="Arial"/>
                <a:ea typeface="Arial"/>
                <a:cs typeface="Arial"/>
              </a:defRPr>
            </a:defPPr>
          </a:lstStyle>
          <a:p xmlns:a="http://schemas.openxmlformats.org/drawingml/2006/main">
            <a:pPr>
              <a:defRPr sz="1875" b="1">
                <a:solidFill>
                  <a:srgbClr val="275D51"/>
                </a:solidFill>
                <a:latin typeface="Arial"/>
                <a:ea typeface="Arial"/>
                <a:cs typeface="Arial"/>
              </a:defRPr>
            </a:pPr>
            <a:r>
              <a:rPr sz="1875" b="1">
                <a:solidFill>
                  <a:srgbClr val="275D51"/>
                </a:solidFill>
                <a:latin typeface="Arial"/>
                <a:ea typeface="Arial"/>
                <a:cs typeface="Arial"/>
              </a:rPr>
              <a:t>Missing referents</a:t>
            </a:r>
          </a:p>
        </p:txBody>
      </p:sp>
      <p:sp>
        <p:nvSpPr>
          <p:cNvPr id="6" name="body-219">
            <a:extLst xmlns:a="http://schemas.openxmlformats.org/drawingml/2006/main">
              <a:ext uri="{FF2B5EF4-FFF2-40B4-BE49-F238E27FC236}">
                <a16:creationId xmlns:a16="http://schemas.microsoft.com/office/drawing/2014/main" id="{C66B976D-57E4-49FE-8865-200DE40BCA4A}"/>
              </a:ext>
            </a:extLst>
          </p:cNvPr>
          <p:cNvSpPr>
            <a:spLocks xmlns:a="http://schemas.openxmlformats.org/drawingml/2006/main" noGrp="1"/>
          </p:cNvSpPr>
          <p:nvPr/>
        </p:nvSpPr>
        <p:spPr>
          <a:xfrm xmlns:a="http://schemas.openxmlformats.org/drawingml/2006/main">
            <a:off x="609600" y="2514600"/>
            <a:ext cx="28765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43B33"/>
                </a:solidFill>
                <a:latin typeface="Arial"/>
                <a:ea typeface="Arial"/>
                <a:cs typeface="Arial"/>
              </a:defRPr>
            </a:defPPr>
          </a:lstStyle>
          <a:p xmlns:a="http://schemas.openxmlformats.org/drawingml/2006/main">
            <a:pPr>
              <a:defRPr sz="1800" b="0">
                <a:solidFill>
                  <a:srgbClr val="243B33"/>
                </a:solidFill>
                <a:latin typeface="Arial"/>
                <a:ea typeface="Arial"/>
                <a:cs typeface="Arial"/>
              </a:defRPr>
            </a:pPr>
            <a:r>
              <a:rPr sz="1800" b="0">
                <a:solidFill>
                  <a:srgbClr val="243B33"/>
                </a:solidFill>
                <a:latin typeface="Arial"/>
                <a:ea typeface="Arial"/>
                <a:cs typeface="Arial"/>
              </a:rPr>
              <a:t>“It might help them” leaves the subject and outcome unresolved.</a:t>
            </a:r>
          </a:p>
        </p:txBody>
      </p:sp>
      <p:sp>
        <p:nvSpPr>
          <p:cNvPr id="7" name="label-393">
            <a:extLst xmlns:a="http://schemas.openxmlformats.org/drawingml/2006/main">
              <a:ext uri="{FF2B5EF4-FFF2-40B4-BE49-F238E27FC236}">
                <a16:creationId xmlns:a16="http://schemas.microsoft.com/office/drawing/2014/main" id="{0A66CCD8-5398-4F1F-8E72-1EF7ED3C3947}"/>
              </a:ext>
            </a:extLst>
          </p:cNvPr>
          <p:cNvSpPr>
            <a:spLocks xmlns:a="http://schemas.openxmlformats.org/drawingml/2006/main" noGrp="1"/>
          </p:cNvSpPr>
          <p:nvPr/>
        </p:nvSpPr>
        <p:spPr>
          <a:xfrm xmlns:a="http://schemas.openxmlformats.org/drawingml/2006/main">
            <a:off x="609600" y="3743325"/>
            <a:ext cx="2876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275D51"/>
                </a:solidFill>
                <a:latin typeface="Arial"/>
                <a:ea typeface="Arial"/>
                <a:cs typeface="Arial"/>
              </a:defRPr>
            </a:defPPr>
          </a:lstStyle>
          <a:p xmlns:a="http://schemas.openxmlformats.org/drawingml/2006/main">
            <a:pPr>
              <a:defRPr sz="1875" b="1">
                <a:solidFill>
                  <a:srgbClr val="275D51"/>
                </a:solidFill>
                <a:latin typeface="Arial"/>
                <a:ea typeface="Arial"/>
                <a:cs typeface="Arial"/>
              </a:defRPr>
            </a:pPr>
            <a:r>
              <a:rPr sz="1875" b="1">
                <a:solidFill>
                  <a:srgbClr val="275D51"/>
                </a:solidFill>
                <a:latin typeface="Arial"/>
                <a:ea typeface="Arial"/>
                <a:cs typeface="Arial"/>
              </a:rPr>
              <a:t>Qualification pending</a:t>
            </a:r>
          </a:p>
        </p:txBody>
      </p:sp>
      <p:sp>
        <p:nvSpPr>
          <p:cNvPr id="8" name="body-393">
            <a:extLst xmlns:a="http://schemas.openxmlformats.org/drawingml/2006/main">
              <a:ext uri="{FF2B5EF4-FFF2-40B4-BE49-F238E27FC236}">
                <a16:creationId xmlns:a16="http://schemas.microsoft.com/office/drawing/2014/main" id="{ACBD6BD1-3E48-41FF-8D54-6E9032EF0EAC}"/>
              </a:ext>
            </a:extLst>
          </p:cNvPr>
          <p:cNvSpPr>
            <a:spLocks xmlns:a="http://schemas.openxmlformats.org/drawingml/2006/main" noGrp="1"/>
          </p:cNvSpPr>
          <p:nvPr/>
        </p:nvSpPr>
        <p:spPr>
          <a:xfrm xmlns:a="http://schemas.openxmlformats.org/drawingml/2006/main">
            <a:off x="609600" y="4171950"/>
            <a:ext cx="28765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43B33"/>
                </a:solidFill>
                <a:latin typeface="Arial"/>
                <a:ea typeface="Arial"/>
                <a:cs typeface="Arial"/>
              </a:defRPr>
            </a:defPPr>
          </a:lstStyle>
          <a:p xmlns:a="http://schemas.openxmlformats.org/drawingml/2006/main">
            <a:pPr>
              <a:defRPr sz="1800" b="0">
                <a:solidFill>
                  <a:srgbClr val="243B33"/>
                </a:solidFill>
                <a:latin typeface="Arial"/>
                <a:ea typeface="Arial"/>
                <a:cs typeface="Arial"/>
              </a:defRPr>
            </a:pPr>
            <a:r>
              <a:rPr sz="1800" b="0">
                <a:solidFill>
                  <a:srgbClr val="243B33"/>
                </a:solidFill>
                <a:latin typeface="Arial"/>
                <a:ea typeface="Arial"/>
                <a:cs typeface="Arial"/>
              </a:rPr>
              <a:t>Live AI remains disabled at this preparation checkpoint.</a:t>
            </a:r>
          </a:p>
        </p:txBody>
      </p:sp>
      <p:pic>
        <p:nvPicPr>
          <p:cNvPr id="9" name="">
            <a:extLst xmlns:a="http://schemas.openxmlformats.org/drawingml/2006/main">
              <a:ext uri="{FF2B5EF4-FFF2-40B4-BE49-F238E27FC236}">
                <a16:creationId xmlns:a16="http://schemas.microsoft.com/office/drawing/2014/main" id="{E7C0DDDA-9B3E-49EF-A118-1FE6DABC6169}"/>
              </a:ext>
            </a:extLst>
          </p:cNvPr>
          <p:cNvPicPr>
            <a:picLocks xmlns:a="http://schemas.openxmlformats.org/drawingml/2006/main" noChangeAspect="1"/>
          </p:cNvPicPr>
          <p:nvPr/>
        </p:nvPicPr>
        <p:blipFill>
          <a:blip xmlns:r="http://schemas.openxmlformats.org/officeDocument/2006/relationships" xmlns:a="http://schemas.openxmlformats.org/drawingml/2006/main" r:embed="R385804aa83494ff6"/>
          <a:stretch xmlns:a="http://schemas.openxmlformats.org/drawingml/2006/main"/>
        </p:blipFill>
        <p:spPr>
          <a:xfrm xmlns:a="http://schemas.openxmlformats.org/drawingml/2006/main">
            <a:off x="3781425" y="1971630"/>
            <a:ext cx="7800975" cy="4057740"/>
          </a:xfrm>
          <a:prstGeom xmlns:a="http://schemas.openxmlformats.org/drawingml/2006/main" prst="rect">
            <a:avLst/>
          </a:prstGeom>
        </p:spPr>
      </p:pic>
    </p:spTree>
    <p:extLst>
      <p:ext uri="{BB962C8B-B14F-4D97-AF65-F5344CB8AC3E}">
        <p14:creationId xmlns:p14="http://schemas.microsoft.com/office/powerpoint/2010/main" val="1402061042"/>
      </p:ext>
    </p:extLst>
  </p:cSld>
</p:sld>
</file>

<file path=ppt/slides/slide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C91F1681-27FD-4365-A6AB-9D4C94867B31}"/>
              </a:ext>
            </a:extLst>
          </p:cNvPr>
          <p:cNvSpPr>
            <a:spLocks xmlns:a="http://schemas.openxmlformats.org/drawingml/2006/main" noGrp="1"/>
          </p:cNvSpPr>
          <p:nvPr/>
        </p:nvSpPr>
        <p:spPr>
          <a:xfrm xmlns:a="http://schemas.openxmlformats.org/drawingml/2006/main">
            <a:off x="609600" y="4572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0">
                <a:solidFill>
                  <a:srgbClr val="243B33"/>
                </a:solidFill>
                <a:latin typeface="Georgia"/>
                <a:ea typeface="Georgia"/>
                <a:cs typeface="Georgia"/>
              </a:defRPr>
            </a:defPPr>
          </a:lstStyle>
          <a:p xmlns:a="http://schemas.openxmlformats.org/drawingml/2006/main">
            <a:pPr>
              <a:defRPr sz="3900" b="0">
                <a:solidFill>
                  <a:srgbClr val="243B33"/>
                </a:solidFill>
                <a:latin typeface="Georgia"/>
                <a:ea typeface="Georgia"/>
                <a:cs typeface="Georgia"/>
              </a:defRPr>
            </a:pPr>
            <a:r>
              <a:rPr sz="3900" b="0">
                <a:solidFill>
                  <a:srgbClr val="243B33"/>
                </a:solidFill>
                <a:latin typeface="Georgia"/>
                <a:ea typeface="Georgia"/>
                <a:cs typeface="Georgia"/>
              </a:rPr>
              <a:t>Architecture and authority</a:t>
            </a:r>
          </a:p>
        </p:txBody>
      </p:sp>
      <p:sp>
        <p:nvSpPr>
          <p:cNvPr id="2" name="subtitle">
            <a:extLst xmlns:a="http://schemas.openxmlformats.org/drawingml/2006/main">
              <a:ext uri="{FF2B5EF4-FFF2-40B4-BE49-F238E27FC236}">
                <a16:creationId xmlns:a16="http://schemas.microsoft.com/office/drawing/2014/main" id="{5D3ED31F-741D-4296-817D-93E951F9BE62}"/>
              </a:ext>
            </a:extLst>
          </p:cNvPr>
          <p:cNvSpPr>
            <a:spLocks xmlns:a="http://schemas.openxmlformats.org/drawingml/2006/main" noGrp="1"/>
          </p:cNvSpPr>
          <p:nvPr/>
        </p:nvSpPr>
        <p:spPr>
          <a:xfrm xmlns:a="http://schemas.openxmlformats.org/drawingml/2006/main">
            <a:off x="628650" y="1333500"/>
            <a:ext cx="10934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C6D64"/>
                </a:solidFill>
                <a:latin typeface="Arial"/>
                <a:ea typeface="Arial"/>
                <a:cs typeface="Arial"/>
              </a:defRPr>
            </a:defPPr>
          </a:lstStyle>
          <a:p xmlns:a="http://schemas.openxmlformats.org/drawingml/2006/main">
            <a:pPr>
              <a:defRPr sz="1800" b="0">
                <a:solidFill>
                  <a:srgbClr val="5C6D64"/>
                </a:solidFill>
                <a:latin typeface="Arial"/>
                <a:ea typeface="Arial"/>
                <a:cs typeface="Arial"/>
              </a:defRPr>
            </a:pPr>
            <a:r>
              <a:rPr sz="1800" b="0">
                <a:solidFill>
                  <a:srgbClr val="5C6D64"/>
                </a:solidFill>
                <a:latin typeface="Arial"/>
                <a:ea typeface="Arial"/>
                <a:cs typeface="Arial"/>
              </a:rPr>
              <a:t>React, FastAPI and PostgreSQL in a local single-process application</a:t>
            </a:r>
          </a:p>
        </p:txBody>
      </p:sp>
      <p:sp>
        <p:nvSpPr>
          <p:cNvPr id="3" name="disclosure">
            <a:extLst xmlns:a="http://schemas.openxmlformats.org/drawingml/2006/main">
              <a:ext uri="{FF2B5EF4-FFF2-40B4-BE49-F238E27FC236}">
                <a16:creationId xmlns:a16="http://schemas.microsoft.com/office/drawing/2014/main" id="{7A5E933B-1102-4667-BC3E-16380A12E0EA}"/>
              </a:ext>
            </a:extLst>
          </p:cNvPr>
          <p:cNvSpPr>
            <a:spLocks xmlns:a="http://schemas.openxmlformats.org/drawingml/2006/main" noGrp="1"/>
          </p:cNvSpPr>
          <p:nvPr/>
        </p:nvSpPr>
        <p:spPr>
          <a:xfrm xmlns:a="http://schemas.openxmlformats.org/drawingml/2006/main">
            <a:off x="609600" y="64579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C6D64"/>
                </a:solidFill>
                <a:latin typeface="Arial"/>
                <a:ea typeface="Arial"/>
                <a:cs typeface="Arial"/>
              </a:defRPr>
            </a:defPPr>
          </a:lstStyle>
          <a:p xmlns:a="http://schemas.openxmlformats.org/drawingml/2006/main">
            <a:pPr>
              <a:defRPr sz="1275" b="0">
                <a:solidFill>
                  <a:srgbClr val="5C6D64"/>
                </a:solidFill>
                <a:latin typeface="Arial"/>
                <a:ea typeface="Arial"/>
                <a:cs typeface="Arial"/>
              </a:defRPr>
            </a:pPr>
            <a:r>
              <a:rPr sz="1275" b="0">
                <a:solidFill>
                  <a:srgbClr val="5C6D64"/>
                </a:solidFill>
                <a:latin typeface="Arial"/>
                <a:ea typeface="Arial"/>
                <a:cs typeface="Arial"/>
              </a:rPr>
              <a:t>Recorded screenshot walkthrough  /  Fictional engineering prototype</a:t>
            </a:r>
          </a:p>
        </p:txBody>
      </p:sp>
      <p:sp>
        <p:nvSpPr>
          <p:cNvPr id="4" name="page">
            <a:extLst xmlns:a="http://schemas.openxmlformats.org/drawingml/2006/main">
              <a:ext uri="{FF2B5EF4-FFF2-40B4-BE49-F238E27FC236}">
                <a16:creationId xmlns:a16="http://schemas.microsoft.com/office/drawing/2014/main" id="{91B62642-3CD3-416A-872D-18452EF7CEA5}"/>
              </a:ext>
            </a:extLst>
          </p:cNvPr>
          <p:cNvSpPr>
            <a:spLocks xmlns:a="http://schemas.openxmlformats.org/drawingml/2006/main" noGrp="1"/>
          </p:cNvSpPr>
          <p:nvPr/>
        </p:nvSpPr>
        <p:spPr>
          <a:xfrm xmlns:a="http://schemas.openxmlformats.org/drawingml/2006/main">
            <a:off x="11049000" y="64579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C6D64"/>
                </a:solidFill>
                <a:latin typeface="Arial"/>
                <a:ea typeface="Arial"/>
                <a:cs typeface="Arial"/>
              </a:defRPr>
            </a:defPPr>
          </a:lstStyle>
          <a:p xmlns:a="http://schemas.openxmlformats.org/drawingml/2006/main">
            <a:pPr>
              <a:defRPr sz="1275" b="0">
                <a:solidFill>
                  <a:srgbClr val="5C6D64"/>
                </a:solidFill>
                <a:latin typeface="Arial"/>
                <a:ea typeface="Arial"/>
                <a:cs typeface="Arial"/>
              </a:defRPr>
            </a:pPr>
            <a:r>
              <a:rPr sz="1275" b="0">
                <a:solidFill>
                  <a:srgbClr val="5C6D64"/>
                </a:solidFill>
                <a:latin typeface="Arial"/>
                <a:ea typeface="Arial"/>
                <a:cs typeface="Arial"/>
              </a:rPr>
              <a:t>08</a:t>
            </a:r>
          </a:p>
        </p:txBody>
      </p:sp>
      <p:graphicFrame>
        <p:nvGraphicFramePr>
          <p:cNvPr id="5" name="">
            <a:extLst xmlns:a="http://schemas.openxmlformats.org/drawingml/2006/main">
              <a:ext uri="{FF2B5EF4-FFF2-40B4-BE49-F238E27FC236}">
                <a16:creationId xmlns:a16="http://schemas.microsoft.com/office/drawing/2014/main" id="{4564FFF3-7A02-48AA-AE82-4B15D97078A6}"/>
              </a:ext>
            </a:extLst>
          </p:cNvPr>
          <p:cNvGraphicFramePr/>
          <p:nvPr/>
        </p:nvGraphicFramePr>
        <p:xfrm>
          <a:off xmlns:a="http://schemas.openxmlformats.org/drawingml/2006/main" x="609600" y="2057400"/>
          <a:ext xmlns:a="http://schemas.openxmlformats.org/drawingml/2006/main" cx="10972800" cy="3143250"/>
        </p:xfrm>
        <a:graphic xmlns:a="http://schemas.openxmlformats.org/drawingml/2006/main">
          <a:graphicData uri="http://schemas.openxmlformats.org/drawingml/2006/table">
            <a:tbl>
              <a:tblPr/>
              <a:tblGrid>
                <a:gridCol w="2819400"/>
                <a:gridCol w="5391150"/>
                <a:gridCol w="2762250"/>
              </a:tblGrid>
              <a:tr h="785813">
                <a:tc>
                  <a:txBody>
                    <a:bodyPr wrap="square" lIns="142875" tIns="123825" rIns="142875" bIns="104775">
                      <a:noAutofit/>
                    </a:bodyPr>
                    <a:lstStyle/>
                    <a:p>
                      <a:r>
                        <a:rPr sz="1725" b="1">
                          <a:solidFill>
                            <a:srgbClr val="F7F5EF"/>
                          </a:solidFill>
                          <a:latin typeface="Arial"/>
                          <a:ea typeface="Arial"/>
                          <a:cs typeface="Arial"/>
                        </a:rPr>
                        <a:t>Boundary</a:t>
                      </a:r>
                    </a:p>
                  </a:txBody>
                  <a:tcPr marL="91440" marR="91440" marT="45720" marB="45720" anchor="ctr">
                    <a:lnL w="9525">
                      <a:solidFill>
                        <a:srgbClr val="C9D2C7"/>
                      </a:solidFill>
                      <a:prstDash val="solid"/>
                    </a:lnL>
                    <a:lnR w="9525">
                      <a:solidFill>
                        <a:srgbClr val="C9D2C7"/>
                      </a:solidFill>
                      <a:prstDash val="solid"/>
                    </a:lnR>
                    <a:lnT w="9525">
                      <a:solidFill>
                        <a:srgbClr val="C9D2C7"/>
                      </a:solidFill>
                      <a:prstDash val="solid"/>
                    </a:lnT>
                    <a:lnB w="9525">
                      <a:solidFill>
                        <a:srgbClr val="C9D2C7"/>
                      </a:solidFill>
                      <a:prstDash val="solid"/>
                    </a:lnB>
                    <a:solidFill>
                      <a:srgbClr val="275D51"/>
                    </a:solidFill>
                  </a:tcPr>
                </a:tc>
                <a:tc>
                  <a:txBody>
                    <a:bodyPr wrap="square" lIns="142875" tIns="123825" rIns="142875" bIns="104775">
                      <a:noAutofit/>
                    </a:bodyPr>
                    <a:lstStyle/>
                    <a:p>
                      <a:r>
                        <a:rPr sz="1725" b="1">
                          <a:solidFill>
                            <a:srgbClr val="F7F5EF"/>
                          </a:solidFill>
                          <a:latin typeface="Arial"/>
                          <a:ea typeface="Arial"/>
                          <a:cs typeface="Arial"/>
                        </a:rPr>
                        <a:t>Implemented control</a:t>
                      </a:r>
                    </a:p>
                  </a:txBody>
                  <a:tcPr marL="91440" marR="91440" marT="45720" marB="45720" anchor="ctr">
                    <a:lnR w="9525">
                      <a:solidFill>
                        <a:srgbClr val="C9D2C7"/>
                      </a:solidFill>
                      <a:prstDash val="solid"/>
                    </a:lnR>
                    <a:lnT w="9525">
                      <a:solidFill>
                        <a:srgbClr val="C9D2C7"/>
                      </a:solidFill>
                      <a:prstDash val="solid"/>
                    </a:lnT>
                    <a:lnB w="9525">
                      <a:solidFill>
                        <a:srgbClr val="C9D2C7"/>
                      </a:solidFill>
                      <a:prstDash val="solid"/>
                    </a:lnB>
                    <a:solidFill>
                      <a:srgbClr val="275D51"/>
                    </a:solidFill>
                  </a:tcPr>
                </a:tc>
                <a:tc>
                  <a:txBody>
                    <a:bodyPr wrap="square" lIns="142875" tIns="123825" rIns="142875" bIns="104775">
                      <a:noAutofit/>
                    </a:bodyPr>
                    <a:lstStyle/>
                    <a:p>
                      <a:r>
                        <a:rPr sz="1725" b="1">
                          <a:solidFill>
                            <a:srgbClr val="F7F5EF"/>
                          </a:solidFill>
                          <a:latin typeface="Arial"/>
                          <a:ea typeface="Arial"/>
                          <a:cs typeface="Arial"/>
                        </a:rPr>
                        <a:t>Authority retained by</a:t>
                      </a:r>
                    </a:p>
                  </a:txBody>
                  <a:tcPr marL="91440" marR="91440" marT="45720" marB="45720" anchor="ctr">
                    <a:lnR w="9525">
                      <a:solidFill>
                        <a:srgbClr val="C9D2C7"/>
                      </a:solidFill>
                      <a:prstDash val="solid"/>
                    </a:lnR>
                    <a:lnT w="9525">
                      <a:solidFill>
                        <a:srgbClr val="C9D2C7"/>
                      </a:solidFill>
                      <a:prstDash val="solid"/>
                    </a:lnT>
                    <a:lnB w="9525">
                      <a:solidFill>
                        <a:srgbClr val="C9D2C7"/>
                      </a:solidFill>
                      <a:prstDash val="solid"/>
                    </a:lnB>
                    <a:solidFill>
                      <a:srgbClr val="275D51"/>
                    </a:solidFill>
                  </a:tcPr>
                </a:tc>
              </a:tr>
              <a:tr h="785813">
                <a:tc>
                  <a:txBody>
                    <a:bodyPr wrap="square" lIns="142875" tIns="123825" rIns="142875" bIns="104775">
                      <a:noAutofit/>
                    </a:bodyPr>
                    <a:lstStyle/>
                    <a:p>
                      <a:r>
                        <a:rPr sz="1725" b="0">
                          <a:solidFill>
                            <a:srgbClr val="243B33"/>
                          </a:solidFill>
                          <a:latin typeface="Arial"/>
                          <a:ea typeface="Arial"/>
                          <a:cs typeface="Arial"/>
                        </a:rPr>
                        <a:t>Input and interpretation</a:t>
                      </a:r>
                    </a:p>
                  </a:txBody>
                  <a:tcPr marL="91440" marR="91440" marT="45720" marB="45720" anchor="ctr">
                    <a:lnL w="9525">
                      <a:solidFill>
                        <a:srgbClr val="C9D2C7"/>
                      </a:solidFill>
                      <a:prstDash val="solid"/>
                    </a:lnL>
                    <a:lnR w="9525">
                      <a:solidFill>
                        <a:srgbClr val="C9D2C7"/>
                      </a:solidFill>
                      <a:prstDash val="solid"/>
                    </a:lnR>
                    <a:lnB w="9525">
                      <a:solidFill>
                        <a:srgbClr val="C9D2C7"/>
                      </a:solidFill>
                      <a:prstDash val="solid"/>
                    </a:lnB>
                    <a:solidFill>
                      <a:srgbClr val="F7F5EF"/>
                    </a:solidFill>
                  </a:tcPr>
                </a:tc>
                <a:tc>
                  <a:txBody>
                    <a:bodyPr wrap="square" lIns="142875" tIns="123825" rIns="142875" bIns="104775">
                      <a:noAutofit/>
                    </a:bodyPr>
                    <a:lstStyle/>
                    <a:p>
                      <a:r>
                        <a:rPr sz="1725" b="0">
                          <a:solidFill>
                            <a:srgbClr val="243B33"/>
                          </a:solidFill>
                          <a:latin typeface="Arial"/>
                          <a:ea typeface="Arial"/>
                          <a:cs typeface="Arial"/>
                        </a:rPr>
                        <a:t>Expiring drafts, confirmation and versions</a:t>
                      </a:r>
                    </a:p>
                  </a:txBody>
                  <a:tcPr marL="91440" marR="91440" marT="45720" marB="45720" anchor="ctr">
                    <a:lnR w="9525">
                      <a:solidFill>
                        <a:srgbClr val="C9D2C7"/>
                      </a:solidFill>
                      <a:prstDash val="solid"/>
                    </a:lnR>
                    <a:lnB w="9525">
                      <a:solidFill>
                        <a:srgbClr val="C9D2C7"/>
                      </a:solidFill>
                      <a:prstDash val="solid"/>
                    </a:lnB>
                    <a:solidFill>
                      <a:srgbClr val="F7F5EF"/>
                    </a:solidFill>
                  </a:tcPr>
                </a:tc>
                <a:tc>
                  <a:txBody>
                    <a:bodyPr wrap="square" lIns="142875" tIns="123825" rIns="142875" bIns="104775">
                      <a:noAutofit/>
                    </a:bodyPr>
                    <a:lstStyle/>
                    <a:p>
                      <a:r>
                        <a:rPr sz="1725" b="0">
                          <a:solidFill>
                            <a:srgbClr val="243B33"/>
                          </a:solidFill>
                          <a:latin typeface="Arial"/>
                          <a:ea typeface="Arial"/>
                          <a:cs typeface="Arial"/>
                        </a:rPr>
                        <a:t>User and server checks</a:t>
                      </a:r>
                    </a:p>
                  </a:txBody>
                  <a:tcPr marL="91440" marR="91440" marT="45720" marB="45720" anchor="ctr">
                    <a:lnR w="9525">
                      <a:solidFill>
                        <a:srgbClr val="C9D2C7"/>
                      </a:solidFill>
                      <a:prstDash val="solid"/>
                    </a:lnR>
                    <a:lnB w="9525">
                      <a:solidFill>
                        <a:srgbClr val="C9D2C7"/>
                      </a:solidFill>
                      <a:prstDash val="solid"/>
                    </a:lnB>
                    <a:solidFill>
                      <a:srgbClr val="F7F5EF"/>
                    </a:solidFill>
                  </a:tcPr>
                </a:tc>
              </a:tr>
              <a:tr h="785813">
                <a:tc>
                  <a:txBody>
                    <a:bodyPr wrap="square" lIns="142875" tIns="123825" rIns="142875" bIns="104775">
                      <a:noAutofit/>
                    </a:bodyPr>
                    <a:lstStyle/>
                    <a:p>
                      <a:r>
                        <a:rPr sz="1725" b="0">
                          <a:solidFill>
                            <a:srgbClr val="243B33"/>
                          </a:solidFill>
                          <a:latin typeface="Arial"/>
                          <a:ea typeface="Arial"/>
                          <a:cs typeface="Arial"/>
                        </a:rPr>
                        <a:t>Evidence and comparison</a:t>
                      </a:r>
                    </a:p>
                  </a:txBody>
                  <a:tcPr marL="91440" marR="91440" marT="45720" marB="45720" anchor="ctr">
                    <a:lnL w="9525">
                      <a:solidFill>
                        <a:srgbClr val="C9D2C7"/>
                      </a:solidFill>
                      <a:prstDash val="solid"/>
                    </a:lnL>
                    <a:lnR w="9525">
                      <a:solidFill>
                        <a:srgbClr val="C9D2C7"/>
                      </a:solidFill>
                      <a:prstDash val="solid"/>
                    </a:lnR>
                    <a:lnB w="9525">
                      <a:solidFill>
                        <a:srgbClr val="C9D2C7"/>
                      </a:solidFill>
                      <a:prstDash val="solid"/>
                    </a:lnB>
                    <a:solidFill>
                      <a:srgbClr val="F7F5EF"/>
                    </a:solidFill>
                  </a:tcPr>
                </a:tc>
                <a:tc>
                  <a:txBody>
                    <a:bodyPr wrap="square" lIns="142875" tIns="123825" rIns="142875" bIns="104775">
                      <a:noAutofit/>
                    </a:bodyPr>
                    <a:lstStyle/>
                    <a:p>
                      <a:r>
                        <a:rPr sz="1725" b="0">
                          <a:solidFill>
                            <a:srgbClr val="243B33"/>
                          </a:solidFill>
                          <a:latin typeface="Arial"/>
                          <a:ea typeface="Arial"/>
                          <a:cs typeface="Arial"/>
                        </a:rPr>
                        <a:t>Source review, passage checks and bounded rendering</a:t>
                      </a:r>
                    </a:p>
                  </a:txBody>
                  <a:tcPr marL="91440" marR="91440" marT="45720" marB="45720" anchor="ctr">
                    <a:lnR w="9525">
                      <a:solidFill>
                        <a:srgbClr val="C9D2C7"/>
                      </a:solidFill>
                      <a:prstDash val="solid"/>
                    </a:lnR>
                    <a:lnB w="9525">
                      <a:solidFill>
                        <a:srgbClr val="C9D2C7"/>
                      </a:solidFill>
                      <a:prstDash val="solid"/>
                    </a:lnB>
                    <a:solidFill>
                      <a:srgbClr val="F7F5EF"/>
                    </a:solidFill>
                  </a:tcPr>
                </a:tc>
                <a:tc>
                  <a:txBody>
                    <a:bodyPr wrap="square" lIns="142875" tIns="123825" rIns="142875" bIns="104775">
                      <a:noAutofit/>
                    </a:bodyPr>
                    <a:lstStyle/>
                    <a:p>
                      <a:r>
                        <a:rPr sz="1725" b="0">
                          <a:solidFill>
                            <a:srgbClr val="243B33"/>
                          </a:solidFill>
                          <a:latin typeface="Arial"/>
                          <a:ea typeface="Arial"/>
                          <a:cs typeface="Arial"/>
                        </a:rPr>
                        <a:t>Review workflow and domain rules</a:t>
                      </a:r>
                    </a:p>
                  </a:txBody>
                  <a:tcPr marL="91440" marR="91440" marT="45720" marB="45720" anchor="ctr">
                    <a:lnR w="9525">
                      <a:solidFill>
                        <a:srgbClr val="C9D2C7"/>
                      </a:solidFill>
                      <a:prstDash val="solid"/>
                    </a:lnR>
                    <a:lnB w="9525">
                      <a:solidFill>
                        <a:srgbClr val="C9D2C7"/>
                      </a:solidFill>
                      <a:prstDash val="solid"/>
                    </a:lnB>
                    <a:solidFill>
                      <a:srgbClr val="F7F5EF"/>
                    </a:solidFill>
                  </a:tcPr>
                </a:tc>
              </a:tr>
              <a:tr h="785813">
                <a:tc>
                  <a:txBody>
                    <a:bodyPr wrap="square" lIns="142875" tIns="123825" rIns="142875" bIns="104775">
                      <a:noAutofit/>
                    </a:bodyPr>
                    <a:lstStyle/>
                    <a:p>
                      <a:r>
                        <a:rPr sz="1725" b="0">
                          <a:solidFill>
                            <a:srgbClr val="243B33"/>
                          </a:solidFill>
                          <a:latin typeface="Arial"/>
                          <a:ea typeface="Arial"/>
                          <a:cs typeface="Arial"/>
                        </a:rPr>
                        <a:t>Save and later use</a:t>
                      </a:r>
                    </a:p>
                  </a:txBody>
                  <a:tcPr marL="91440" marR="91440" marT="45720" marB="45720" anchor="ctr">
                    <a:lnL w="9525">
                      <a:solidFill>
                        <a:srgbClr val="C9D2C7"/>
                      </a:solidFill>
                      <a:prstDash val="solid"/>
                    </a:lnL>
                    <a:lnR w="9525">
                      <a:solidFill>
                        <a:srgbClr val="C9D2C7"/>
                      </a:solidFill>
                      <a:prstDash val="solid"/>
                    </a:lnR>
                    <a:lnB w="9525">
                      <a:solidFill>
                        <a:srgbClr val="C9D2C7"/>
                      </a:solidFill>
                      <a:prstDash val="solid"/>
                    </a:lnB>
                    <a:solidFill>
                      <a:srgbClr val="F7F5EF"/>
                    </a:solidFill>
                  </a:tcPr>
                </a:tc>
                <a:tc>
                  <a:txBody>
                    <a:bodyPr wrap="square" lIns="142875" tIns="123825" rIns="142875" bIns="104775">
                      <a:noAutofit/>
                    </a:bodyPr>
                    <a:lstStyle/>
                    <a:p>
                      <a:r>
                        <a:rPr sz="1725" b="0">
                          <a:solidFill>
                            <a:srgbClr val="243B33"/>
                          </a:solidFill>
                          <a:latin typeface="Arial"/>
                          <a:ea typeface="Arial"/>
                          <a:cs typeface="Arial"/>
                        </a:rPr>
                        <a:t>Consent, ownership and current trust checks</a:t>
                      </a:r>
                    </a:p>
                  </a:txBody>
                  <a:tcPr marL="91440" marR="91440" marT="45720" marB="45720" anchor="ctr">
                    <a:lnR w="9525">
                      <a:solidFill>
                        <a:srgbClr val="C9D2C7"/>
                      </a:solidFill>
                      <a:prstDash val="solid"/>
                    </a:lnR>
                    <a:lnB w="9525">
                      <a:solidFill>
                        <a:srgbClr val="C9D2C7"/>
                      </a:solidFill>
                      <a:prstDash val="solid"/>
                    </a:lnB>
                    <a:solidFill>
                      <a:srgbClr val="F7F5EF"/>
                    </a:solidFill>
                  </a:tcPr>
                </a:tc>
                <a:tc>
                  <a:txBody>
                    <a:bodyPr wrap="square" lIns="142875" tIns="123825" rIns="142875" bIns="104775">
                      <a:noAutofit/>
                    </a:bodyPr>
                    <a:lstStyle/>
                    <a:p>
                      <a:r>
                        <a:rPr sz="1725" b="0">
                          <a:solidFill>
                            <a:srgbClr val="243B33"/>
                          </a:solidFill>
                          <a:latin typeface="Arial"/>
                          <a:ea typeface="Arial"/>
                          <a:cs typeface="Arial"/>
                        </a:rPr>
                        <a:t>Server transaction</a:t>
                      </a:r>
                    </a:p>
                  </a:txBody>
                  <a:tcPr marL="91440" marR="91440" marT="45720" marB="45720" anchor="ctr">
                    <a:lnR w="9525">
                      <a:solidFill>
                        <a:srgbClr val="C9D2C7"/>
                      </a:solidFill>
                      <a:prstDash val="solid"/>
                    </a:lnR>
                    <a:lnB w="9525">
                      <a:solidFill>
                        <a:srgbClr val="C9D2C7"/>
                      </a:solidFill>
                      <a:prstDash val="solid"/>
                    </a:lnB>
                    <a:solidFill>
                      <a:srgbClr val="F7F5EF"/>
                    </a:solidFill>
                  </a:tcPr>
                </a:tc>
              </a:tr>
            </a:tbl>
          </a:graphicData>
        </a:graphic>
      </p:graphicFrame>
      <p:sp>
        <p:nvSpPr>
          <p:cNvPr id="6" name="ai-boundary">
            <a:extLst xmlns:a="http://schemas.openxmlformats.org/drawingml/2006/main">
              <a:ext uri="{FF2B5EF4-FFF2-40B4-BE49-F238E27FC236}">
                <a16:creationId xmlns:a16="http://schemas.microsoft.com/office/drawing/2014/main" id="{CD7B84C2-D5DF-4724-9A86-05520B4D6873}"/>
              </a:ext>
            </a:extLst>
          </p:cNvPr>
          <p:cNvSpPr>
            <a:spLocks xmlns:a="http://schemas.openxmlformats.org/drawingml/2006/main" noGrp="1"/>
          </p:cNvSpPr>
          <p:nvPr/>
        </p:nvSpPr>
        <p:spPr>
          <a:xfrm xmlns:a="http://schemas.openxmlformats.org/drawingml/2006/main">
            <a:off x="609600" y="55245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275D51"/>
                </a:solidFill>
                <a:latin typeface="Arial"/>
                <a:ea typeface="Arial"/>
                <a:cs typeface="Arial"/>
              </a:defRPr>
            </a:defPPr>
          </a:lstStyle>
          <a:p xmlns:a="http://schemas.openxmlformats.org/drawingml/2006/main">
            <a:pPr>
              <a:defRPr sz="2025" b="1">
                <a:solidFill>
                  <a:srgbClr val="275D51"/>
                </a:solidFill>
                <a:latin typeface="Arial"/>
                <a:ea typeface="Arial"/>
                <a:cs typeface="Arial"/>
              </a:defRPr>
            </a:pPr>
            <a:r>
              <a:rPr sz="2025" b="1">
                <a:solidFill>
                  <a:srgbClr val="275D51"/>
                </a:solidFill>
                <a:latin typeface="Arial"/>
                <a:ea typeface="Arial"/>
                <a:cs typeface="Arial"/>
              </a:rPr>
              <a:t>Optional AI proposes structure. It cannot approve evidence or authorize a write.</a:t>
            </a:r>
          </a:p>
        </p:txBody>
      </p:sp>
    </p:spTree>
    <p:extLst>
      <p:ext uri="{BB962C8B-B14F-4D97-AF65-F5344CB8AC3E}">
        <p14:creationId xmlns:p14="http://schemas.microsoft.com/office/powerpoint/2010/main" val="2091127605"/>
      </p:ext>
    </p:extLst>
  </p:cSld>
</p:sld>
</file>

<file path=ppt/slides/slide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6B03E60F-436B-47C7-A93F-8844A8C2D299}"/>
              </a:ext>
            </a:extLst>
          </p:cNvPr>
          <p:cNvSpPr>
            <a:spLocks xmlns:a="http://schemas.openxmlformats.org/drawingml/2006/main" noGrp="1"/>
          </p:cNvSpPr>
          <p:nvPr/>
        </p:nvSpPr>
        <p:spPr>
          <a:xfrm xmlns:a="http://schemas.openxmlformats.org/drawingml/2006/main">
            <a:off x="609600" y="4572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0">
                <a:solidFill>
                  <a:srgbClr val="243B33"/>
                </a:solidFill>
                <a:latin typeface="Georgia"/>
                <a:ea typeface="Georgia"/>
                <a:cs typeface="Georgia"/>
              </a:defRPr>
            </a:defPPr>
          </a:lstStyle>
          <a:p xmlns:a="http://schemas.openxmlformats.org/drawingml/2006/main">
            <a:pPr>
              <a:defRPr sz="3900" b="0">
                <a:solidFill>
                  <a:srgbClr val="243B33"/>
                </a:solidFill>
                <a:latin typeface="Georgia"/>
                <a:ea typeface="Georgia"/>
                <a:cs typeface="Georgia"/>
              </a:defRPr>
            </a:pPr>
            <a:r>
              <a:rPr sz="3900" b="0">
                <a:solidFill>
                  <a:srgbClr val="243B33"/>
                </a:solidFill>
                <a:latin typeface="Georgia"/>
                <a:ea typeface="Georgia"/>
                <a:cs typeface="Georgia"/>
              </a:rPr>
              <a:t>WorkBuddy’s development contribution</a:t>
            </a:r>
          </a:p>
        </p:txBody>
      </p:sp>
      <p:sp>
        <p:nvSpPr>
          <p:cNvPr id="2" name="subtitle">
            <a:extLst xmlns:a="http://schemas.openxmlformats.org/drawingml/2006/main">
              <a:ext uri="{FF2B5EF4-FFF2-40B4-BE49-F238E27FC236}">
                <a16:creationId xmlns:a16="http://schemas.microsoft.com/office/drawing/2014/main" id="{41C3F3D5-13E7-4547-9596-70786517D782}"/>
              </a:ext>
            </a:extLst>
          </p:cNvPr>
          <p:cNvSpPr>
            <a:spLocks xmlns:a="http://schemas.openxmlformats.org/drawingml/2006/main" noGrp="1"/>
          </p:cNvSpPr>
          <p:nvPr/>
        </p:nvSpPr>
        <p:spPr>
          <a:xfrm xmlns:a="http://schemas.openxmlformats.org/drawingml/2006/main">
            <a:off x="628650" y="1333500"/>
            <a:ext cx="10934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C6D64"/>
                </a:solidFill>
                <a:latin typeface="Arial"/>
                <a:ea typeface="Arial"/>
                <a:cs typeface="Arial"/>
              </a:defRPr>
            </a:defPPr>
          </a:lstStyle>
          <a:p xmlns:a="http://schemas.openxmlformats.org/drawingml/2006/main">
            <a:pPr>
              <a:defRPr sz="1800" b="0">
                <a:solidFill>
                  <a:srgbClr val="5C6D64"/>
                </a:solidFill>
                <a:latin typeface="Arial"/>
                <a:ea typeface="Arial"/>
                <a:cs typeface="Arial"/>
              </a:defRPr>
            </a:pPr>
            <a:r>
              <a:rPr sz="1800" b="0">
                <a:solidFill>
                  <a:srgbClr val="5C6D64"/>
                </a:solidFill>
                <a:latin typeface="Arial"/>
                <a:ea typeface="Arial"/>
                <a:cs typeface="Arial"/>
              </a:rPr>
              <a:t>Source review that led to meaningful negative-test coverage</a:t>
            </a:r>
          </a:p>
        </p:txBody>
      </p:sp>
      <p:sp>
        <p:nvSpPr>
          <p:cNvPr id="3" name="disclosure">
            <a:extLst xmlns:a="http://schemas.openxmlformats.org/drawingml/2006/main">
              <a:ext uri="{FF2B5EF4-FFF2-40B4-BE49-F238E27FC236}">
                <a16:creationId xmlns:a16="http://schemas.microsoft.com/office/drawing/2014/main" id="{76D5B762-83FE-4BE2-B792-4AE6C236772B}"/>
              </a:ext>
            </a:extLst>
          </p:cNvPr>
          <p:cNvSpPr>
            <a:spLocks xmlns:a="http://schemas.openxmlformats.org/drawingml/2006/main" noGrp="1"/>
          </p:cNvSpPr>
          <p:nvPr/>
        </p:nvSpPr>
        <p:spPr>
          <a:xfrm xmlns:a="http://schemas.openxmlformats.org/drawingml/2006/main">
            <a:off x="609600" y="64579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C6D64"/>
                </a:solidFill>
                <a:latin typeface="Arial"/>
                <a:ea typeface="Arial"/>
                <a:cs typeface="Arial"/>
              </a:defRPr>
            </a:defPPr>
          </a:lstStyle>
          <a:p xmlns:a="http://schemas.openxmlformats.org/drawingml/2006/main">
            <a:pPr>
              <a:defRPr sz="1275" b="0">
                <a:solidFill>
                  <a:srgbClr val="5C6D64"/>
                </a:solidFill>
                <a:latin typeface="Arial"/>
                <a:ea typeface="Arial"/>
                <a:cs typeface="Arial"/>
              </a:defRPr>
            </a:pPr>
            <a:r>
              <a:rPr sz="1275" b="0">
                <a:solidFill>
                  <a:srgbClr val="5C6D64"/>
                </a:solidFill>
                <a:latin typeface="Arial"/>
                <a:ea typeface="Arial"/>
                <a:cs typeface="Arial"/>
              </a:rPr>
              <a:t>Recorded screenshot walkthrough  /  Fictional engineering prototype</a:t>
            </a:r>
          </a:p>
        </p:txBody>
      </p:sp>
      <p:sp>
        <p:nvSpPr>
          <p:cNvPr id="4" name="page">
            <a:extLst xmlns:a="http://schemas.openxmlformats.org/drawingml/2006/main">
              <a:ext uri="{FF2B5EF4-FFF2-40B4-BE49-F238E27FC236}">
                <a16:creationId xmlns:a16="http://schemas.microsoft.com/office/drawing/2014/main" id="{ECA2E268-FE92-41DF-95DA-66B529CD05EE}"/>
              </a:ext>
            </a:extLst>
          </p:cNvPr>
          <p:cNvSpPr>
            <a:spLocks xmlns:a="http://schemas.openxmlformats.org/drawingml/2006/main" noGrp="1"/>
          </p:cNvSpPr>
          <p:nvPr/>
        </p:nvSpPr>
        <p:spPr>
          <a:xfrm xmlns:a="http://schemas.openxmlformats.org/drawingml/2006/main">
            <a:off x="11049000" y="64579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C6D64"/>
                </a:solidFill>
                <a:latin typeface="Arial"/>
                <a:ea typeface="Arial"/>
                <a:cs typeface="Arial"/>
              </a:defRPr>
            </a:defPPr>
          </a:lstStyle>
          <a:p xmlns:a="http://schemas.openxmlformats.org/drawingml/2006/main">
            <a:pPr>
              <a:defRPr sz="1275" b="0">
                <a:solidFill>
                  <a:srgbClr val="5C6D64"/>
                </a:solidFill>
                <a:latin typeface="Arial"/>
                <a:ea typeface="Arial"/>
                <a:cs typeface="Arial"/>
              </a:defRPr>
            </a:pPr>
            <a:r>
              <a:rPr sz="1275" b="0">
                <a:solidFill>
                  <a:srgbClr val="5C6D64"/>
                </a:solidFill>
                <a:latin typeface="Arial"/>
                <a:ea typeface="Arial"/>
                <a:cs typeface="Arial"/>
              </a:rPr>
              <a:t>09</a:t>
            </a:r>
          </a:p>
        </p:txBody>
      </p:sp>
      <p:sp>
        <p:nvSpPr>
          <p:cNvPr id="5" name="workbuddy">
            <a:extLst xmlns:a="http://schemas.openxmlformats.org/drawingml/2006/main">
              <a:ext uri="{FF2B5EF4-FFF2-40B4-BE49-F238E27FC236}">
                <a16:creationId xmlns:a16="http://schemas.microsoft.com/office/drawing/2014/main" id="{36481233-8AA7-498D-A76C-4F5C2306CCB5}"/>
              </a:ext>
            </a:extLst>
          </p:cNvPr>
          <p:cNvSpPr>
            <a:spLocks xmlns:a="http://schemas.openxmlformats.org/drawingml/2006/main" noGrp="1"/>
          </p:cNvSpPr>
          <p:nvPr/>
        </p:nvSpPr>
        <p:spPr>
          <a:xfrm xmlns:a="http://schemas.openxmlformats.org/drawingml/2006/main">
            <a:off x="609600" y="2133600"/>
            <a:ext cx="4895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75D51"/>
                </a:solidFill>
                <a:latin typeface="Arial"/>
                <a:ea typeface="Arial"/>
                <a:cs typeface="Arial"/>
              </a:defRPr>
            </a:defPPr>
          </a:lstStyle>
          <a:p xmlns:a="http://schemas.openxmlformats.org/drawingml/2006/main">
            <a:pPr>
              <a:defRPr sz="2325" b="1">
                <a:solidFill>
                  <a:srgbClr val="275D51"/>
                </a:solidFill>
                <a:latin typeface="Arial"/>
                <a:ea typeface="Arial"/>
                <a:cs typeface="Arial"/>
              </a:defRPr>
            </a:pPr>
            <a:r>
              <a:rPr sz="2325" b="1">
                <a:solidFill>
                  <a:srgbClr val="275D51"/>
                </a:solidFill>
                <a:latin typeface="Arial"/>
                <a:ea typeface="Arial"/>
                <a:cs typeface="Arial"/>
              </a:rPr>
              <a:t>WorkBuddy reviewed</a:t>
            </a:r>
          </a:p>
        </p:txBody>
      </p:sp>
      <p:sp>
        <p:nvSpPr>
          <p:cNvPr id="6" name="review">
            <a:extLst xmlns:a="http://schemas.openxmlformats.org/drawingml/2006/main">
              <a:ext uri="{FF2B5EF4-FFF2-40B4-BE49-F238E27FC236}">
                <a16:creationId xmlns:a16="http://schemas.microsoft.com/office/drawing/2014/main" id="{F9D2F7D3-635B-4CC0-93D6-A4624A57B882}"/>
              </a:ext>
            </a:extLst>
          </p:cNvPr>
          <p:cNvSpPr>
            <a:spLocks xmlns:a="http://schemas.openxmlformats.org/drawingml/2006/main" noGrp="1"/>
          </p:cNvSpPr>
          <p:nvPr/>
        </p:nvSpPr>
        <p:spPr>
          <a:xfrm xmlns:a="http://schemas.openxmlformats.org/drawingml/2006/main">
            <a:off x="609600" y="2647950"/>
            <a:ext cx="4743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43B33"/>
                </a:solidFill>
                <a:latin typeface="Arial"/>
                <a:ea typeface="Arial"/>
                <a:cs typeface="Arial"/>
              </a:defRPr>
            </a:defPPr>
          </a:lstStyle>
          <a:p xmlns:a="http://schemas.openxmlformats.org/drawingml/2006/main">
            <a:pPr>
              <a:defRPr sz="2025" b="0">
                <a:solidFill>
                  <a:srgbClr val="243B33"/>
                </a:solidFill>
                <a:latin typeface="Arial"/>
                <a:ea typeface="Arial"/>
                <a:cs typeface="Arial"/>
              </a:defRPr>
            </a:pPr>
            <a:r>
              <a:rPr sz="2025" b="0">
                <a:solidFill>
                  <a:srgbClr val="243B33"/>
                </a:solidFill>
                <a:latin typeface="Arial"/>
                <a:ea typeface="Arial"/>
                <a:cs typeface="Arial"/>
              </a:rPr>
              <a:t>Consent and source-withdrawal boundaries</a:t>
            </a:r>
          </a:p>
        </p:txBody>
      </p:sp>
      <p:sp>
        <p:nvSpPr>
          <p:cNvPr id="7" name="codex">
            <a:extLst xmlns:a="http://schemas.openxmlformats.org/drawingml/2006/main">
              <a:ext uri="{FF2B5EF4-FFF2-40B4-BE49-F238E27FC236}">
                <a16:creationId xmlns:a16="http://schemas.microsoft.com/office/drawing/2014/main" id="{1F87E821-0DD4-46F2-A4B1-6CD66D166F80}"/>
              </a:ext>
            </a:extLst>
          </p:cNvPr>
          <p:cNvSpPr>
            <a:spLocks xmlns:a="http://schemas.openxmlformats.org/drawingml/2006/main" noGrp="1"/>
          </p:cNvSpPr>
          <p:nvPr/>
        </p:nvSpPr>
        <p:spPr>
          <a:xfrm xmlns:a="http://schemas.openxmlformats.org/drawingml/2006/main">
            <a:off x="609600" y="3648075"/>
            <a:ext cx="5010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75D51"/>
                </a:solidFill>
                <a:latin typeface="Arial"/>
                <a:ea typeface="Arial"/>
                <a:cs typeface="Arial"/>
              </a:defRPr>
            </a:defPPr>
          </a:lstStyle>
          <a:p xmlns:a="http://schemas.openxmlformats.org/drawingml/2006/main">
            <a:pPr>
              <a:defRPr sz="2175" b="1">
                <a:solidFill>
                  <a:srgbClr val="275D51"/>
                </a:solidFill>
                <a:latin typeface="Arial"/>
                <a:ea typeface="Arial"/>
                <a:cs typeface="Arial"/>
              </a:defRPr>
            </a:pPr>
            <a:r>
              <a:rPr sz="2175" b="1">
                <a:solidFill>
                  <a:srgbClr val="275D51"/>
                </a:solidFill>
                <a:latin typeface="Arial"/>
                <a:ea typeface="Arial"/>
                <a:cs typeface="Arial"/>
              </a:rPr>
              <a:t>Codex corrected and implemented</a:t>
            </a:r>
          </a:p>
        </p:txBody>
      </p:sp>
      <p:sp>
        <p:nvSpPr>
          <p:cNvPr id="8" name="validation">
            <a:extLst xmlns:a="http://schemas.openxmlformats.org/drawingml/2006/main">
              <a:ext uri="{FF2B5EF4-FFF2-40B4-BE49-F238E27FC236}">
                <a16:creationId xmlns:a16="http://schemas.microsoft.com/office/drawing/2014/main" id="{2BF94E69-5A8E-4DD9-B616-1D1520DA21ED}"/>
              </a:ext>
            </a:extLst>
          </p:cNvPr>
          <p:cNvSpPr>
            <a:spLocks xmlns:a="http://schemas.openxmlformats.org/drawingml/2006/main" noGrp="1"/>
          </p:cNvSpPr>
          <p:nvPr/>
        </p:nvSpPr>
        <p:spPr>
          <a:xfrm xmlns:a="http://schemas.openxmlformats.org/drawingml/2006/main">
            <a:off x="609600" y="4171950"/>
            <a:ext cx="48958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43B33"/>
                </a:solidFill>
                <a:latin typeface="Arial"/>
                <a:ea typeface="Arial"/>
                <a:cs typeface="Arial"/>
              </a:defRPr>
            </a:defPPr>
          </a:lstStyle>
          <a:p xmlns:a="http://schemas.openxmlformats.org/drawingml/2006/main">
            <a:pPr>
              <a:defRPr sz="2175" b="0">
                <a:solidFill>
                  <a:srgbClr val="243B33"/>
                </a:solidFill>
                <a:latin typeface="Arial"/>
                <a:ea typeface="Arial"/>
                <a:cs typeface="Arial"/>
              </a:defRPr>
            </a:pPr>
            <a:r>
              <a:rPr sz="2175" b="0">
                <a:solidFill>
                  <a:srgbClr val="243B33"/>
                </a:solidFill>
                <a:latin typeface="Arial"/>
                <a:ea typeface="Arial"/>
                <a:cs typeface="Arial"/>
              </a:rPr>
              <a:t>44 related tests passed</a:t>
            </a:r>
          </a:p>
          <a:p xmlns:a="http://schemas.openxmlformats.org/drawingml/2006/main">
            <a:pPr>
              <a:defRPr sz="2175" b="0">
                <a:solidFill>
                  <a:srgbClr val="243B33"/>
                </a:solidFill>
                <a:latin typeface="Arial"/>
                <a:ea typeface="Arial"/>
                <a:cs typeface="Arial"/>
              </a:defRPr>
            </a:pPr>
            <a:r>
              <a:rPr sz="2175" b="0">
                <a:solidFill>
                  <a:srgbClr val="243B33"/>
                </a:solidFill>
                <a:latin typeface="Arial"/>
                <a:ea typeface="Arial"/>
                <a:cs typeface="Arial"/>
              </a:rPr>
              <a:t>4 inspected conversation captures</a:t>
            </a:r>
          </a:p>
        </p:txBody>
      </p:sp>
      <p:sp>
        <p:nvSpPr>
          <p:cNvPr id="9" name="scope">
            <a:extLst xmlns:a="http://schemas.openxmlformats.org/drawingml/2006/main">
              <a:ext uri="{FF2B5EF4-FFF2-40B4-BE49-F238E27FC236}">
                <a16:creationId xmlns:a16="http://schemas.microsoft.com/office/drawing/2014/main" id="{AB5329A2-C75C-44BA-9DE6-5F0F537B5FA2}"/>
              </a:ext>
            </a:extLst>
          </p:cNvPr>
          <p:cNvSpPr>
            <a:spLocks xmlns:a="http://schemas.openxmlformats.org/drawingml/2006/main" noGrp="1"/>
          </p:cNvSpPr>
          <p:nvPr/>
        </p:nvSpPr>
        <p:spPr>
          <a:xfrm xmlns:a="http://schemas.openxmlformats.org/drawingml/2006/main">
            <a:off x="609600" y="5410200"/>
            <a:ext cx="5067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C6D64"/>
                </a:solidFill>
                <a:latin typeface="Arial"/>
                <a:ea typeface="Arial"/>
                <a:cs typeface="Arial"/>
              </a:defRPr>
            </a:defPPr>
          </a:lstStyle>
          <a:p xmlns:a="http://schemas.openxmlformats.org/drawingml/2006/main">
            <a:pPr>
              <a:defRPr sz="1650" b="0">
                <a:solidFill>
                  <a:srgbClr val="5C6D64"/>
                </a:solidFill>
                <a:latin typeface="Arial"/>
                <a:ea typeface="Arial"/>
                <a:cs typeface="Arial"/>
              </a:defRPr>
            </a:pPr>
            <a:r>
              <a:rPr sz="1650" b="0">
                <a:solidFill>
                  <a:srgbClr val="5C6D64"/>
                </a:solidFill>
                <a:latin typeface="Arial"/>
                <a:ea typeface="Arial"/>
                <a:cs typeface="Arial"/>
              </a:rPr>
              <a:t>13 October 2026</a:t>
            </a:r>
          </a:p>
          <a:p xmlns:a="http://schemas.openxmlformats.org/drawingml/2006/main">
            <a:pPr>
              <a:defRPr sz="1650" b="0">
                <a:solidFill>
                  <a:srgbClr val="5C6D64"/>
                </a:solidFill>
                <a:latin typeface="Arial"/>
                <a:ea typeface="Arial"/>
                <a:cs typeface="Arial"/>
              </a:defRPr>
            </a:pPr>
            <a:r>
              <a:rPr sz="1650" b="0">
                <a:solidFill>
                  <a:srgbClr val="5C6D64"/>
                </a:solidFill>
                <a:latin typeface="Arial"/>
                <a:ea typeface="Arial"/>
                <a:cs typeface="Arial"/>
              </a:rPr>
              <a:t>No clinical approval or runtime qualification</a:t>
            </a:r>
          </a:p>
        </p:txBody>
      </p:sp>
      <p:pic>
        <p:nvPicPr>
          <p:cNvPr id="10" name="">
            <a:extLst xmlns:a="http://schemas.openxmlformats.org/drawingml/2006/main">
              <a:ext uri="{FF2B5EF4-FFF2-40B4-BE49-F238E27FC236}">
                <a16:creationId xmlns:a16="http://schemas.microsoft.com/office/drawing/2014/main" id="{FF8FB49A-9B5A-40E8-BA73-F15B10B5DEFD}"/>
              </a:ext>
            </a:extLst>
          </p:cNvPr>
          <p:cNvPicPr>
            <a:picLocks xmlns:a="http://schemas.openxmlformats.org/drawingml/2006/main" noChangeAspect="1"/>
          </p:cNvPicPr>
          <p:nvPr/>
        </p:nvPicPr>
        <p:blipFill>
          <a:blip xmlns:r="http://schemas.openxmlformats.org/officeDocument/2006/relationships" xmlns:a="http://schemas.openxmlformats.org/drawingml/2006/main" r:embed="R6fd309877c774f21"/>
          <a:stretch xmlns:a="http://schemas.openxmlformats.org/drawingml/2006/main"/>
        </p:blipFill>
        <p:spPr>
          <a:xfrm xmlns:a="http://schemas.openxmlformats.org/drawingml/2006/main">
            <a:off x="5915025" y="2636943"/>
            <a:ext cx="5667375" cy="2698539"/>
          </a:xfrm>
          <a:prstGeom xmlns:a="http://schemas.openxmlformats.org/drawingml/2006/main" prst="rect">
            <a:avLst/>
          </a:prstGeom>
        </p:spPr>
      </p:pic>
    </p:spTree>
    <p:extLst>
      <p:ext uri="{BB962C8B-B14F-4D97-AF65-F5344CB8AC3E}">
        <p14:creationId xmlns:p14="http://schemas.microsoft.com/office/powerpoint/2010/main" val="521866592"/>
      </p:ext>
    </p:extLst>
  </p:cSld>
</p:sld>
</file>

<file path=ppt/slides/slide1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11788CAB-8E78-4C00-A387-505FC0B11C09}"/>
              </a:ext>
            </a:extLst>
          </p:cNvPr>
          <p:cNvSpPr>
            <a:spLocks xmlns:a="http://schemas.openxmlformats.org/drawingml/2006/main" noGrp="1"/>
          </p:cNvSpPr>
          <p:nvPr/>
        </p:nvSpPr>
        <p:spPr>
          <a:xfrm xmlns:a="http://schemas.openxmlformats.org/drawingml/2006/main">
            <a:off x="609600" y="4572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0">
                <a:solidFill>
                  <a:srgbClr val="243B33"/>
                </a:solidFill>
                <a:latin typeface="Georgia"/>
                <a:ea typeface="Georgia"/>
                <a:cs typeface="Georgia"/>
              </a:defRPr>
            </a:defPPr>
          </a:lstStyle>
          <a:p xmlns:a="http://schemas.openxmlformats.org/drawingml/2006/main">
            <a:pPr>
              <a:defRPr sz="3900" b="0">
                <a:solidFill>
                  <a:srgbClr val="243B33"/>
                </a:solidFill>
                <a:latin typeface="Georgia"/>
                <a:ea typeface="Georgia"/>
                <a:cs typeface="Georgia"/>
              </a:defRPr>
            </a:pPr>
            <a:r>
              <a:rPr sz="3900" b="0">
                <a:solidFill>
                  <a:srgbClr val="243B33"/>
                </a:solidFill>
                <a:latin typeface="Georgia"/>
                <a:ea typeface="Georgia"/>
                <a:cs typeface="Georgia"/>
              </a:rPr>
              <a:t>Results and open qualifications</a:t>
            </a:r>
          </a:p>
        </p:txBody>
      </p:sp>
      <p:sp>
        <p:nvSpPr>
          <p:cNvPr id="2" name="subtitle">
            <a:extLst xmlns:a="http://schemas.openxmlformats.org/drawingml/2006/main">
              <a:ext uri="{FF2B5EF4-FFF2-40B4-BE49-F238E27FC236}">
                <a16:creationId xmlns:a16="http://schemas.microsoft.com/office/drawing/2014/main" id="{DBAE2E72-A3E7-410A-B375-7103A26D6722}"/>
              </a:ext>
            </a:extLst>
          </p:cNvPr>
          <p:cNvSpPr>
            <a:spLocks xmlns:a="http://schemas.openxmlformats.org/drawingml/2006/main" noGrp="1"/>
          </p:cNvSpPr>
          <p:nvPr/>
        </p:nvSpPr>
        <p:spPr>
          <a:xfrm xmlns:a="http://schemas.openxmlformats.org/drawingml/2006/main">
            <a:off x="628650" y="1333500"/>
            <a:ext cx="10934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C6D64"/>
                </a:solidFill>
                <a:latin typeface="Arial"/>
                <a:ea typeface="Arial"/>
                <a:cs typeface="Arial"/>
              </a:defRPr>
            </a:defPPr>
          </a:lstStyle>
          <a:p xmlns:a="http://schemas.openxmlformats.org/drawingml/2006/main">
            <a:pPr>
              <a:defRPr sz="1800" b="0">
                <a:solidFill>
                  <a:srgbClr val="5C6D64"/>
                </a:solidFill>
                <a:latin typeface="Arial"/>
                <a:ea typeface="Arial"/>
                <a:cs typeface="Arial"/>
              </a:defRPr>
            </a:pPr>
            <a:r>
              <a:rPr sz="1800" b="0">
                <a:solidFill>
                  <a:srgbClr val="5C6D64"/>
                </a:solidFill>
                <a:latin typeface="Arial"/>
                <a:ea typeface="Arial"/>
                <a:cs typeface="Arial"/>
              </a:rPr>
              <a:t>Documented 13 October checkpoints, with separate denominators</a:t>
            </a:r>
          </a:p>
        </p:txBody>
      </p:sp>
      <p:sp>
        <p:nvSpPr>
          <p:cNvPr id="3" name="disclosure">
            <a:extLst xmlns:a="http://schemas.openxmlformats.org/drawingml/2006/main">
              <a:ext uri="{FF2B5EF4-FFF2-40B4-BE49-F238E27FC236}">
                <a16:creationId xmlns:a16="http://schemas.microsoft.com/office/drawing/2014/main" id="{044EF3CE-DCCF-47F4-A69C-A6F6457AF9FE}"/>
              </a:ext>
            </a:extLst>
          </p:cNvPr>
          <p:cNvSpPr>
            <a:spLocks xmlns:a="http://schemas.openxmlformats.org/drawingml/2006/main" noGrp="1"/>
          </p:cNvSpPr>
          <p:nvPr/>
        </p:nvSpPr>
        <p:spPr>
          <a:xfrm xmlns:a="http://schemas.openxmlformats.org/drawingml/2006/main">
            <a:off x="609600" y="64579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C6D64"/>
                </a:solidFill>
                <a:latin typeface="Arial"/>
                <a:ea typeface="Arial"/>
                <a:cs typeface="Arial"/>
              </a:defRPr>
            </a:defPPr>
          </a:lstStyle>
          <a:p xmlns:a="http://schemas.openxmlformats.org/drawingml/2006/main">
            <a:pPr>
              <a:defRPr sz="1275" b="0">
                <a:solidFill>
                  <a:srgbClr val="5C6D64"/>
                </a:solidFill>
                <a:latin typeface="Arial"/>
                <a:ea typeface="Arial"/>
                <a:cs typeface="Arial"/>
              </a:defRPr>
            </a:pPr>
            <a:r>
              <a:rPr sz="1275" b="0">
                <a:solidFill>
                  <a:srgbClr val="5C6D64"/>
                </a:solidFill>
                <a:latin typeface="Arial"/>
                <a:ea typeface="Arial"/>
                <a:cs typeface="Arial"/>
              </a:rPr>
              <a:t>Recorded screenshot walkthrough  /  Fictional engineering prototype</a:t>
            </a:r>
          </a:p>
        </p:txBody>
      </p:sp>
      <p:sp>
        <p:nvSpPr>
          <p:cNvPr id="4" name="page">
            <a:extLst xmlns:a="http://schemas.openxmlformats.org/drawingml/2006/main">
              <a:ext uri="{FF2B5EF4-FFF2-40B4-BE49-F238E27FC236}">
                <a16:creationId xmlns:a16="http://schemas.microsoft.com/office/drawing/2014/main" id="{0B169205-8CA3-48FD-A8ED-B02D530248B7}"/>
              </a:ext>
            </a:extLst>
          </p:cNvPr>
          <p:cNvSpPr>
            <a:spLocks xmlns:a="http://schemas.openxmlformats.org/drawingml/2006/main" noGrp="1"/>
          </p:cNvSpPr>
          <p:nvPr/>
        </p:nvSpPr>
        <p:spPr>
          <a:xfrm xmlns:a="http://schemas.openxmlformats.org/drawingml/2006/main">
            <a:off x="11049000" y="64579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C6D64"/>
                </a:solidFill>
                <a:latin typeface="Arial"/>
                <a:ea typeface="Arial"/>
                <a:cs typeface="Arial"/>
              </a:defRPr>
            </a:defPPr>
          </a:lstStyle>
          <a:p xmlns:a="http://schemas.openxmlformats.org/drawingml/2006/main">
            <a:pPr>
              <a:defRPr sz="1275" b="0">
                <a:solidFill>
                  <a:srgbClr val="5C6D64"/>
                </a:solidFill>
                <a:latin typeface="Arial"/>
                <a:ea typeface="Arial"/>
                <a:cs typeface="Arial"/>
              </a:defRPr>
            </a:pPr>
            <a:r>
              <a:rPr sz="1275" b="0">
                <a:solidFill>
                  <a:srgbClr val="5C6D64"/>
                </a:solidFill>
                <a:latin typeface="Arial"/>
                <a:ea typeface="Arial"/>
                <a:cs typeface="Arial"/>
              </a:rPr>
              <a:t>10</a:t>
            </a:r>
          </a:p>
        </p:txBody>
      </p:sp>
      <p:graphicFrame>
        <p:nvGraphicFramePr>
          <p:cNvPr id="5" name="">
            <a:extLst xmlns:a="http://schemas.openxmlformats.org/drawingml/2006/main">
              <a:ext uri="{FF2B5EF4-FFF2-40B4-BE49-F238E27FC236}">
                <a16:creationId xmlns:a16="http://schemas.microsoft.com/office/drawing/2014/main" id="{4A35896D-0C17-46CF-8DDD-173069E2B9ED}"/>
              </a:ext>
            </a:extLst>
          </p:cNvPr>
          <p:cNvGraphicFramePr/>
          <p:nvPr/>
        </p:nvGraphicFramePr>
        <p:xfrm>
          <a:off xmlns:a="http://schemas.openxmlformats.org/drawingml/2006/main" x="609600" y="2000250"/>
          <a:ext xmlns:a="http://schemas.openxmlformats.org/drawingml/2006/main" cx="10972800" cy="2857500"/>
        </p:xfrm>
        <a:graphic xmlns:a="http://schemas.openxmlformats.org/drawingml/2006/main">
          <a:graphicData uri="http://schemas.openxmlformats.org/drawingml/2006/table">
            <a:tbl>
              <a:tblPr/>
              <a:tblGrid>
                <a:gridCol w="3238500"/>
                <a:gridCol w="4238625"/>
                <a:gridCol w="3495675"/>
              </a:tblGrid>
              <a:tr h="714375">
                <a:tc>
                  <a:txBody>
                    <a:bodyPr wrap="square" lIns="142875" tIns="123825" rIns="142875" bIns="104775">
                      <a:noAutofit/>
                    </a:bodyPr>
                    <a:lstStyle/>
                    <a:p>
                      <a:r>
                        <a:rPr sz="1800" b="1">
                          <a:solidFill>
                            <a:srgbClr val="F7F5EF"/>
                          </a:solidFill>
                          <a:latin typeface="Arial"/>
                          <a:ea typeface="Arial"/>
                          <a:cs typeface="Arial"/>
                        </a:rPr>
                        <a:t>Check</a:t>
                      </a:r>
                    </a:p>
                  </a:txBody>
                  <a:tcPr marL="91440" marR="91440" marT="45720" marB="45720" anchor="ctr">
                    <a:lnL w="9525">
                      <a:solidFill>
                        <a:srgbClr val="C9D2C7"/>
                      </a:solidFill>
                      <a:prstDash val="solid"/>
                    </a:lnL>
                    <a:lnR w="9525">
                      <a:solidFill>
                        <a:srgbClr val="C9D2C7"/>
                      </a:solidFill>
                      <a:prstDash val="solid"/>
                    </a:lnR>
                    <a:lnT w="9525">
                      <a:solidFill>
                        <a:srgbClr val="C9D2C7"/>
                      </a:solidFill>
                      <a:prstDash val="solid"/>
                    </a:lnT>
                    <a:lnB w="9525">
                      <a:solidFill>
                        <a:srgbClr val="C9D2C7"/>
                      </a:solidFill>
                      <a:prstDash val="solid"/>
                    </a:lnB>
                    <a:solidFill>
                      <a:srgbClr val="275D51"/>
                    </a:solidFill>
                  </a:tcPr>
                </a:tc>
                <a:tc>
                  <a:txBody>
                    <a:bodyPr wrap="square" lIns="142875" tIns="123825" rIns="142875" bIns="104775">
                      <a:noAutofit/>
                    </a:bodyPr>
                    <a:lstStyle/>
                    <a:p>
                      <a:r>
                        <a:rPr sz="1800" b="1">
                          <a:solidFill>
                            <a:srgbClr val="F7F5EF"/>
                          </a:solidFill>
                          <a:latin typeface="Arial"/>
                          <a:ea typeface="Arial"/>
                          <a:cs typeface="Arial"/>
                        </a:rPr>
                        <a:t>Observed result</a:t>
                      </a:r>
                    </a:p>
                  </a:txBody>
                  <a:tcPr marL="91440" marR="91440" marT="45720" marB="45720" anchor="ctr">
                    <a:lnR w="9525">
                      <a:solidFill>
                        <a:srgbClr val="C9D2C7"/>
                      </a:solidFill>
                      <a:prstDash val="solid"/>
                    </a:lnR>
                    <a:lnT w="9525">
                      <a:solidFill>
                        <a:srgbClr val="C9D2C7"/>
                      </a:solidFill>
                      <a:prstDash val="solid"/>
                    </a:lnT>
                    <a:lnB w="9525">
                      <a:solidFill>
                        <a:srgbClr val="C9D2C7"/>
                      </a:solidFill>
                      <a:prstDash val="solid"/>
                    </a:lnB>
                    <a:solidFill>
                      <a:srgbClr val="275D51"/>
                    </a:solidFill>
                  </a:tcPr>
                </a:tc>
                <a:tc>
                  <a:txBody>
                    <a:bodyPr wrap="square" lIns="142875" tIns="123825" rIns="142875" bIns="104775">
                      <a:noAutofit/>
                    </a:bodyPr>
                    <a:lstStyle/>
                    <a:p>
                      <a:r>
                        <a:rPr sz="1800" b="1">
                          <a:solidFill>
                            <a:srgbClr val="F7F5EF"/>
                          </a:solidFill>
                          <a:latin typeface="Arial"/>
                          <a:ea typeface="Arial"/>
                          <a:cs typeface="Arial"/>
                        </a:rPr>
                        <a:t>Limit</a:t>
                      </a:r>
                    </a:p>
                  </a:txBody>
                  <a:tcPr marL="91440" marR="91440" marT="45720" marB="45720" anchor="ctr">
                    <a:lnR w="9525">
                      <a:solidFill>
                        <a:srgbClr val="C9D2C7"/>
                      </a:solidFill>
                      <a:prstDash val="solid"/>
                    </a:lnR>
                    <a:lnT w="9525">
                      <a:solidFill>
                        <a:srgbClr val="C9D2C7"/>
                      </a:solidFill>
                      <a:prstDash val="solid"/>
                    </a:lnT>
                    <a:lnB w="9525">
                      <a:solidFill>
                        <a:srgbClr val="C9D2C7"/>
                      </a:solidFill>
                      <a:prstDash val="solid"/>
                    </a:lnB>
                    <a:solidFill>
                      <a:srgbClr val="275D51"/>
                    </a:solidFill>
                  </a:tcPr>
                </a:tc>
              </a:tr>
              <a:tr h="714375">
                <a:tc>
                  <a:txBody>
                    <a:bodyPr wrap="square" lIns="142875" tIns="123825" rIns="142875" bIns="104775">
                      <a:noAutofit/>
                    </a:bodyPr>
                    <a:lstStyle/>
                    <a:p>
                      <a:r>
                        <a:rPr sz="1800" b="0">
                          <a:solidFill>
                            <a:srgbClr val="243B33"/>
                          </a:solidFill>
                          <a:latin typeface="Arial"/>
                          <a:ea typeface="Arial"/>
                          <a:cs typeface="Arial"/>
                        </a:rPr>
                        <a:t>Python checkpoint</a:t>
                      </a:r>
                    </a:p>
                  </a:txBody>
                  <a:tcPr marL="91440" marR="91440" marT="45720" marB="45720" anchor="ctr">
                    <a:lnL w="9525">
                      <a:solidFill>
                        <a:srgbClr val="C9D2C7"/>
                      </a:solidFill>
                      <a:prstDash val="solid"/>
                    </a:lnL>
                    <a:lnR w="9525">
                      <a:solidFill>
                        <a:srgbClr val="C9D2C7"/>
                      </a:solidFill>
                      <a:prstDash val="solid"/>
                    </a:lnR>
                    <a:lnB w="9525">
                      <a:solidFill>
                        <a:srgbClr val="C9D2C7"/>
                      </a:solidFill>
                      <a:prstDash val="solid"/>
                    </a:lnB>
                    <a:solidFill>
                      <a:srgbClr val="F7F5EF"/>
                    </a:solidFill>
                  </a:tcPr>
                </a:tc>
                <a:tc>
                  <a:txBody>
                    <a:bodyPr wrap="square" lIns="142875" tIns="123825" rIns="142875" bIns="104775">
                      <a:noAutofit/>
                    </a:bodyPr>
                    <a:lstStyle/>
                    <a:p>
                      <a:r>
                        <a:rPr sz="1800" b="0">
                          <a:solidFill>
                            <a:srgbClr val="243B33"/>
                          </a:solidFill>
                          <a:latin typeface="Arial"/>
                          <a:ea typeface="Arial"/>
                          <a:cs typeface="Arial"/>
                        </a:rPr>
                        <a:t>499 tests + 51 subtests passed</a:t>
                      </a:r>
                    </a:p>
                  </a:txBody>
                  <a:tcPr marL="91440" marR="91440" marT="45720" marB="45720" anchor="ctr">
                    <a:lnR w="9525">
                      <a:solidFill>
                        <a:srgbClr val="C9D2C7"/>
                      </a:solidFill>
                      <a:prstDash val="solid"/>
                    </a:lnR>
                    <a:lnB w="9525">
                      <a:solidFill>
                        <a:srgbClr val="C9D2C7"/>
                      </a:solidFill>
                      <a:prstDash val="solid"/>
                    </a:lnB>
                    <a:solidFill>
                      <a:srgbClr val="F7F5EF"/>
                    </a:solidFill>
                  </a:tcPr>
                </a:tc>
                <a:tc>
                  <a:txBody>
                    <a:bodyPr wrap="square" lIns="142875" tIns="123825" rIns="142875" bIns="104775">
                      <a:noAutofit/>
                    </a:bodyPr>
                    <a:lstStyle/>
                    <a:p>
                      <a:r>
                        <a:rPr sz="1800" b="0">
                          <a:solidFill>
                            <a:srgbClr val="243B33"/>
                          </a:solidFill>
                          <a:latin typeface="Arial"/>
                          <a:ea typeface="Arial"/>
                          <a:cs typeface="Arial"/>
                        </a:rPr>
                        <a:t>Engineering checks</a:t>
                      </a:r>
                    </a:p>
                  </a:txBody>
                  <a:tcPr marL="91440" marR="91440" marT="45720" marB="45720" anchor="ctr">
                    <a:lnR w="9525">
                      <a:solidFill>
                        <a:srgbClr val="C9D2C7"/>
                      </a:solidFill>
                      <a:prstDash val="solid"/>
                    </a:lnR>
                    <a:lnB w="9525">
                      <a:solidFill>
                        <a:srgbClr val="C9D2C7"/>
                      </a:solidFill>
                      <a:prstDash val="solid"/>
                    </a:lnB>
                    <a:solidFill>
                      <a:srgbClr val="F7F5EF"/>
                    </a:solidFill>
                  </a:tcPr>
                </a:tc>
              </a:tr>
              <a:tr h="714375">
                <a:tc>
                  <a:txBody>
                    <a:bodyPr wrap="square" lIns="142875" tIns="123825" rIns="142875" bIns="104775">
                      <a:noAutofit/>
                    </a:bodyPr>
                    <a:lstStyle/>
                    <a:p>
                      <a:r>
                        <a:rPr sz="1800" b="0">
                          <a:solidFill>
                            <a:srgbClr val="243B33"/>
                          </a:solidFill>
                          <a:latin typeface="Arial"/>
                          <a:ea typeface="Arial"/>
                          <a:cs typeface="Arial"/>
                        </a:rPr>
                        <a:t>Sponsor-related suite</a:t>
                      </a:r>
                    </a:p>
                  </a:txBody>
                  <a:tcPr marL="91440" marR="91440" marT="45720" marB="45720" anchor="ctr">
                    <a:lnL w="9525">
                      <a:solidFill>
                        <a:srgbClr val="C9D2C7"/>
                      </a:solidFill>
                      <a:prstDash val="solid"/>
                    </a:lnL>
                    <a:lnR w="9525">
                      <a:solidFill>
                        <a:srgbClr val="C9D2C7"/>
                      </a:solidFill>
                      <a:prstDash val="solid"/>
                    </a:lnR>
                    <a:lnB w="9525">
                      <a:solidFill>
                        <a:srgbClr val="C9D2C7"/>
                      </a:solidFill>
                      <a:prstDash val="solid"/>
                    </a:lnB>
                    <a:solidFill>
                      <a:srgbClr val="F7F5EF"/>
                    </a:solidFill>
                  </a:tcPr>
                </a:tc>
                <a:tc>
                  <a:txBody>
                    <a:bodyPr wrap="square" lIns="142875" tIns="123825" rIns="142875" bIns="104775">
                      <a:noAutofit/>
                    </a:bodyPr>
                    <a:lstStyle/>
                    <a:p>
                      <a:r>
                        <a:rPr sz="1800" b="0">
                          <a:solidFill>
                            <a:srgbClr val="243B33"/>
                          </a:solidFill>
                          <a:latin typeface="Arial"/>
                          <a:ea typeface="Arial"/>
                          <a:cs typeface="Arial"/>
                        </a:rPr>
                        <a:t>44 tests passed</a:t>
                      </a:r>
                    </a:p>
                  </a:txBody>
                  <a:tcPr marL="91440" marR="91440" marT="45720" marB="45720" anchor="ctr">
                    <a:lnR w="9525">
                      <a:solidFill>
                        <a:srgbClr val="C9D2C7"/>
                      </a:solidFill>
                      <a:prstDash val="solid"/>
                    </a:lnR>
                    <a:lnB w="9525">
                      <a:solidFill>
                        <a:srgbClr val="C9D2C7"/>
                      </a:solidFill>
                      <a:prstDash val="solid"/>
                    </a:lnB>
                    <a:solidFill>
                      <a:srgbClr val="F7F5EF"/>
                    </a:solidFill>
                  </a:tcPr>
                </a:tc>
                <a:tc>
                  <a:txBody>
                    <a:bodyPr wrap="square" lIns="142875" tIns="123825" rIns="142875" bIns="104775">
                      <a:noAutofit/>
                    </a:bodyPr>
                    <a:lstStyle/>
                    <a:p>
                      <a:r>
                        <a:rPr sz="1800" b="0">
                          <a:solidFill>
                            <a:srgbClr val="243B33"/>
                          </a:solidFill>
                          <a:latin typeface="Arial"/>
                          <a:ea typeface="Arial"/>
                          <a:cs typeface="Arial"/>
                        </a:rPr>
                        <a:t>Separate, overlapping suite</a:t>
                      </a:r>
                    </a:p>
                  </a:txBody>
                  <a:tcPr marL="91440" marR="91440" marT="45720" marB="45720" anchor="ctr">
                    <a:lnR w="9525">
                      <a:solidFill>
                        <a:srgbClr val="C9D2C7"/>
                      </a:solidFill>
                      <a:prstDash val="solid"/>
                    </a:lnR>
                    <a:lnB w="9525">
                      <a:solidFill>
                        <a:srgbClr val="C9D2C7"/>
                      </a:solidFill>
                      <a:prstDash val="solid"/>
                    </a:lnB>
                    <a:solidFill>
                      <a:srgbClr val="F7F5EF"/>
                    </a:solidFill>
                  </a:tcPr>
                </a:tc>
              </a:tr>
              <a:tr h="714375">
                <a:tc>
                  <a:txBody>
                    <a:bodyPr wrap="square" lIns="142875" tIns="123825" rIns="142875" bIns="104775">
                      <a:noAutofit/>
                    </a:bodyPr>
                    <a:lstStyle/>
                    <a:p>
                      <a:r>
                        <a:rPr sz="1800" b="0">
                          <a:solidFill>
                            <a:srgbClr val="243B33"/>
                          </a:solidFill>
                          <a:latin typeface="Arial"/>
                          <a:ea typeface="Arial"/>
                          <a:cs typeface="Arial"/>
                        </a:rPr>
                        <a:t>Reader regression</a:t>
                      </a:r>
                    </a:p>
                  </a:txBody>
                  <a:tcPr marL="91440" marR="91440" marT="45720" marB="45720" anchor="ctr">
                    <a:lnL w="9525">
                      <a:solidFill>
                        <a:srgbClr val="C9D2C7"/>
                      </a:solidFill>
                      <a:prstDash val="solid"/>
                    </a:lnL>
                    <a:lnR w="9525">
                      <a:solidFill>
                        <a:srgbClr val="C9D2C7"/>
                      </a:solidFill>
                      <a:prstDash val="solid"/>
                    </a:lnR>
                    <a:lnB w="9525">
                      <a:solidFill>
                        <a:srgbClr val="C9D2C7"/>
                      </a:solidFill>
                      <a:prstDash val="solid"/>
                    </a:lnB>
                    <a:solidFill>
                      <a:srgbClr val="F7F5EF"/>
                    </a:solidFill>
                  </a:tcPr>
                </a:tc>
                <a:tc>
                  <a:txBody>
                    <a:bodyPr wrap="square" lIns="142875" tIns="123825" rIns="142875" bIns="104775">
                      <a:noAutofit/>
                    </a:bodyPr>
                    <a:lstStyle/>
                    <a:p>
                      <a:r>
                        <a:rPr sz="1800" b="0">
                          <a:solidFill>
                            <a:srgbClr val="243B33"/>
                          </a:solidFill>
                          <a:latin typeface="Arial"/>
                          <a:ea typeface="Arial"/>
                          <a:cs typeface="Arial"/>
                        </a:rPr>
                        <a:t>10/12 exact cases</a:t>
                      </a:r>
                    </a:p>
                  </a:txBody>
                  <a:tcPr marL="91440" marR="91440" marT="45720" marB="45720" anchor="ctr">
                    <a:lnR w="9525">
                      <a:solidFill>
                        <a:srgbClr val="C9D2C7"/>
                      </a:solidFill>
                      <a:prstDash val="solid"/>
                    </a:lnR>
                    <a:lnB w="9525">
                      <a:solidFill>
                        <a:srgbClr val="C9D2C7"/>
                      </a:solidFill>
                      <a:prstDash val="solid"/>
                    </a:lnB>
                    <a:solidFill>
                      <a:srgbClr val="F7F5EF"/>
                    </a:solidFill>
                  </a:tcPr>
                </a:tc>
                <a:tc>
                  <a:txBody>
                    <a:bodyPr wrap="square" lIns="142875" tIns="123825" rIns="142875" bIns="104775">
                      <a:noAutofit/>
                    </a:bodyPr>
                    <a:lstStyle/>
                    <a:p>
                      <a:r>
                        <a:rPr sz="1800" b="0">
                          <a:solidFill>
                            <a:srgbClr val="243B33"/>
                          </a:solidFill>
                          <a:latin typeface="Arial"/>
                          <a:ea typeface="Arial"/>
                          <a:cs typeface="Arial"/>
                        </a:rPr>
                        <a:t>Known cases; gate failed</a:t>
                      </a:r>
                    </a:p>
                  </a:txBody>
                  <a:tcPr marL="91440" marR="91440" marT="45720" marB="45720" anchor="ctr">
                    <a:lnR w="9525">
                      <a:solidFill>
                        <a:srgbClr val="C9D2C7"/>
                      </a:solidFill>
                      <a:prstDash val="solid"/>
                    </a:lnR>
                    <a:lnB w="9525">
                      <a:solidFill>
                        <a:srgbClr val="C9D2C7"/>
                      </a:solidFill>
                      <a:prstDash val="solid"/>
                    </a:lnB>
                    <a:solidFill>
                      <a:srgbClr val="F7F5EF"/>
                    </a:solidFill>
                  </a:tcPr>
                </a:tc>
              </a:tr>
            </a:tbl>
          </a:graphicData>
        </a:graphic>
      </p:graphicFrame>
      <p:sp>
        <p:nvSpPr>
          <p:cNvPr id="6" name="pending">
            <a:extLst xmlns:a="http://schemas.openxmlformats.org/drawingml/2006/main">
              <a:ext uri="{FF2B5EF4-FFF2-40B4-BE49-F238E27FC236}">
                <a16:creationId xmlns:a16="http://schemas.microsoft.com/office/drawing/2014/main" id="{ADA8106D-5553-403B-B927-5609DB7D6C7B}"/>
              </a:ext>
            </a:extLst>
          </p:cNvPr>
          <p:cNvSpPr>
            <a:spLocks xmlns:a="http://schemas.openxmlformats.org/drawingml/2006/main" noGrp="1"/>
          </p:cNvSpPr>
          <p:nvPr/>
        </p:nvSpPr>
        <p:spPr>
          <a:xfrm xmlns:a="http://schemas.openxmlformats.org/drawingml/2006/main">
            <a:off x="609600" y="52673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75D51"/>
                </a:solidFill>
                <a:latin typeface="Arial"/>
                <a:ea typeface="Arial"/>
                <a:cs typeface="Arial"/>
              </a:defRPr>
            </a:defPPr>
          </a:lstStyle>
          <a:p xmlns:a="http://schemas.openxmlformats.org/drawingml/2006/main">
            <a:pPr>
              <a:defRPr sz="2250" b="1">
                <a:solidFill>
                  <a:srgbClr val="275D51"/>
                </a:solidFill>
                <a:latin typeface="Arial"/>
                <a:ea typeface="Arial"/>
                <a:cs typeface="Arial"/>
              </a:defRPr>
            </a:pPr>
            <a:r>
              <a:rPr sz="2250" b="1">
                <a:solidFill>
                  <a:srgbClr val="275D51"/>
                </a:solidFill>
                <a:latin typeface="Arial"/>
                <a:ea typeface="Arial"/>
                <a:cs typeface="Arial"/>
              </a:rPr>
              <a:t>Live AI qualification and clinical publication remain open.</a:t>
            </a:r>
          </a:p>
        </p:txBody>
      </p:sp>
      <p:sp>
        <p:nvSpPr>
          <p:cNvPr id="7" name="usability">
            <a:extLst xmlns:a="http://schemas.openxmlformats.org/drawingml/2006/main">
              <a:ext uri="{FF2B5EF4-FFF2-40B4-BE49-F238E27FC236}">
                <a16:creationId xmlns:a16="http://schemas.microsoft.com/office/drawing/2014/main" id="{CD0251D1-4766-4BD4-849D-29F4CB0508A3}"/>
              </a:ext>
            </a:extLst>
          </p:cNvPr>
          <p:cNvSpPr>
            <a:spLocks xmlns:a="http://schemas.openxmlformats.org/drawingml/2006/main" noGrp="1"/>
          </p:cNvSpPr>
          <p:nvPr/>
        </p:nvSpPr>
        <p:spPr>
          <a:xfrm xmlns:a="http://schemas.openxmlformats.org/drawingml/2006/main">
            <a:off x="609600" y="581977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C6D64"/>
                </a:solidFill>
                <a:latin typeface="Arial"/>
                <a:ea typeface="Arial"/>
                <a:cs typeface="Arial"/>
              </a:defRPr>
            </a:defPPr>
          </a:lstStyle>
          <a:p xmlns:a="http://schemas.openxmlformats.org/drawingml/2006/main">
            <a:pPr>
              <a:defRPr sz="1800" b="0">
                <a:solidFill>
                  <a:srgbClr val="5C6D64"/>
                </a:solidFill>
                <a:latin typeface="Arial"/>
                <a:ea typeface="Arial"/>
                <a:cs typeface="Arial"/>
              </a:defRPr>
            </a:pPr>
            <a:r>
              <a:rPr sz="1800" b="0">
                <a:solidFill>
                  <a:srgbClr val="5C6D64"/>
                </a:solidFill>
                <a:latin typeface="Arial"/>
                <a:ea typeface="Arial"/>
                <a:cs typeface="Arial"/>
              </a:rPr>
              <a:t>No volunteer observations or health benefits are claimed.</a:t>
            </a:r>
          </a:p>
        </p:txBody>
      </p:sp>
    </p:spTree>
    <p:extLst>
      <p:ext uri="{BB962C8B-B14F-4D97-AF65-F5344CB8AC3E}">
        <p14:creationId xmlns:p14="http://schemas.microsoft.com/office/powerpoint/2010/main" val="5364692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2026-10-14T06:49:17.3640000Z</dcterms:created>
  <dcterms:modified xsi:type="dcterms:W3CDTF">2026-10-14T06:49:17.3640000Z</dcterms:modified>
</coreProperties>
</file>